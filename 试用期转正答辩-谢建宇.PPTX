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5.xml" ContentType="application/vnd.openxmlformats-officedocument.theme+xml"/>
  <Override PartName="/ppt/slideLayouts/slideLayout7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  <p:sldMasterId id="2147483693" r:id="rId4"/>
    <p:sldMasterId id="2147483711" r:id="rId5"/>
    <p:sldMasterId id="2147483726" r:id="rId6"/>
  </p:sldMasterIdLst>
  <p:notesMasterIdLst>
    <p:notesMasterId r:id="rId19"/>
  </p:notesMasterIdLst>
  <p:sldIdLst>
    <p:sldId id="256" r:id="rId7"/>
    <p:sldId id="264" r:id="rId8"/>
    <p:sldId id="271" r:id="rId9"/>
    <p:sldId id="275" r:id="rId10"/>
    <p:sldId id="266" r:id="rId11"/>
    <p:sldId id="279" r:id="rId12"/>
    <p:sldId id="276" r:id="rId13"/>
    <p:sldId id="277" r:id="rId14"/>
    <p:sldId id="278" r:id="rId15"/>
    <p:sldId id="262" r:id="rId16"/>
    <p:sldId id="265" r:id="rId17"/>
    <p:sldId id="258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79" autoAdjust="0"/>
  </p:normalViewPr>
  <p:slideViewPr>
    <p:cSldViewPr>
      <p:cViewPr varScale="1">
        <p:scale>
          <a:sx n="110" d="100"/>
          <a:sy n="110" d="100"/>
        </p:scale>
        <p:origin x="10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40E-4A96-9AD9-6428687101A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hade val="51000"/>
                      <a:satMod val="130000"/>
                    </a:schemeClr>
                  </a:gs>
                  <a:gs pos="80000">
                    <a:schemeClr val="accent2">
                      <a:shade val="93000"/>
                      <a:satMod val="130000"/>
                    </a:schemeClr>
                  </a:gs>
                  <a:gs pos="100000">
                    <a:schemeClr val="accent2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40E-4A96-9AD9-6428687101A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40E-4A96-9AD9-6428687101A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hade val="51000"/>
                      <a:satMod val="130000"/>
                    </a:schemeClr>
                  </a:gs>
                  <a:gs pos="80000">
                    <a:schemeClr val="accent4">
                      <a:shade val="93000"/>
                      <a:satMod val="130000"/>
                    </a:schemeClr>
                  </a:gs>
                  <a:gs pos="100000">
                    <a:schemeClr val="accent4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640E-4A96-9AD9-6428687101A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hade val="51000"/>
                      <a:satMod val="130000"/>
                    </a:schemeClr>
                  </a:gs>
                  <a:gs pos="80000">
                    <a:schemeClr val="accent5">
                      <a:shade val="93000"/>
                      <a:satMod val="130000"/>
                    </a:schemeClr>
                  </a:gs>
                  <a:gs pos="100000">
                    <a:schemeClr val="accent5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40E-4A96-9AD9-6428687101A4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hade val="51000"/>
                      <a:satMod val="130000"/>
                    </a:schemeClr>
                  </a:gs>
                  <a:gs pos="80000">
                    <a:schemeClr val="accent6">
                      <a:shade val="93000"/>
                      <a:satMod val="130000"/>
                    </a:schemeClr>
                  </a:gs>
                  <a:gs pos="100000">
                    <a:schemeClr val="accent6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640E-4A96-9AD9-6428687101A4}"/>
              </c:ext>
            </c:extLst>
          </c:dPt>
          <c:dLbls>
            <c:dLbl>
              <c:idx val="0"/>
              <c:layout>
                <c:manualLayout>
                  <c:x val="-0.20537847600884448"/>
                  <c:y val="0.150147385517920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640E-4A96-9AD9-6428687101A4}"/>
                </c:ext>
              </c:extLst>
            </c:dLbl>
            <c:dLbl>
              <c:idx val="1"/>
              <c:layout>
                <c:manualLayout>
                  <c:x val="-0.18160898201136791"/>
                  <c:y val="-8.748604483648776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640E-4A96-9AD9-6428687101A4}"/>
                </c:ext>
              </c:extLst>
            </c:dLbl>
            <c:dLbl>
              <c:idx val="2"/>
              <c:layout>
                <c:manualLayout>
                  <c:x val="-0.12727924268884944"/>
                  <c:y val="-0.1693696765205532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640E-4A96-9AD9-6428687101A4}"/>
                </c:ext>
              </c:extLst>
            </c:dLbl>
            <c:dLbl>
              <c:idx val="3"/>
              <c:layout>
                <c:manualLayout>
                  <c:x val="0.10536095110945566"/>
                  <c:y val="-0.1517329272224376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640E-4A96-9AD9-6428687101A4}"/>
                </c:ext>
              </c:extLst>
            </c:dLbl>
            <c:dLbl>
              <c:idx val="4"/>
              <c:layout>
                <c:manualLayout>
                  <c:x val="0.1621922569774317"/>
                  <c:y val="-0.1503576455756988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640E-4A96-9AD9-6428687101A4}"/>
                </c:ext>
              </c:extLst>
            </c:dLbl>
            <c:dLbl>
              <c:idx val="5"/>
              <c:layout>
                <c:manualLayout>
                  <c:x val="0.23562570661355947"/>
                  <c:y val="5.8773112215114581E-2"/>
                </c:manualLayout>
              </c:layout>
              <c:tx>
                <c:rich>
                  <a:bodyPr/>
                  <a:lstStyle/>
                  <a:p>
                    <a:fld id="{97E37A0A-A282-43F6-AD90-D5CE3DD8455D}" type="CATEGORYNAME">
                      <a:rPr lang="zh-CN" altLang="en-US" b="1"/>
                      <a:pPr/>
                      <a:t>[类别名称]</a:t>
                    </a:fld>
                    <a:r>
                      <a:rPr lang="en-US" altLang="zh-CN" b="1" baseline="0" dirty="0"/>
                      <a:t>, </a:t>
                    </a:r>
                    <a:fld id="{E5687B17-712F-49CA-95AD-92CD2C4B437F}" type="VALUE">
                      <a:rPr lang="en-US" altLang="zh-CN" b="1" baseline="0"/>
                      <a:pPr/>
                      <a:t>[值]</a:t>
                    </a:fld>
                    <a:r>
                      <a:rPr lang="en-US" altLang="zh-CN" b="1" baseline="0" dirty="0"/>
                      <a:t>, </a:t>
                    </a:r>
                    <a:fld id="{1DC1E95C-FD43-4C10-A054-FFFD3E88AB89}" type="PERCENTAGE">
                      <a:rPr lang="en-US" altLang="zh-CN" b="1" baseline="0"/>
                      <a:pPr/>
                      <a:t>[百分比]</a:t>
                    </a:fld>
                    <a:endParaRPr lang="en-US" altLang="zh-CN" b="1" baseline="0" dirty="0"/>
                  </a:p>
                </c:rich>
              </c:tx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8-640E-4A96-9AD9-6428687101A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UI</c:v>
                </c:pt>
                <c:pt idx="1">
                  <c:v>梯控</c:v>
                </c:pt>
                <c:pt idx="2">
                  <c:v>卡号</c:v>
                </c:pt>
                <c:pt idx="3">
                  <c:v>能力集</c:v>
                </c:pt>
                <c:pt idx="4">
                  <c:v>验证相关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0E-4A96-9AD9-6428687101A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10-46EE-8036-78A3849264D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3">
                      <a:shade val="51000"/>
                      <a:satMod val="130000"/>
                    </a:schemeClr>
                  </a:gs>
                  <a:gs pos="80000">
                    <a:schemeClr val="accent3">
                      <a:shade val="93000"/>
                      <a:satMod val="130000"/>
                    </a:schemeClr>
                  </a:gs>
                  <a:gs pos="100000">
                    <a:schemeClr val="accent3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B10-46EE-8036-78A3849264D1}"/>
              </c:ext>
            </c:extLst>
          </c:dPt>
          <c:dLbls>
            <c:dLbl>
              <c:idx val="0"/>
              <c:layout>
                <c:manualLayout>
                  <c:x val="-0.22525633002583045"/>
                  <c:y val="-0.2270057415356305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1EBFEB0-9742-48BB-8C44-5F026C80D4D0}" type="CATEGORYNAME">
                      <a:rPr lang="zh-CN" altLang="en-US" b="1" baseline="0" dirty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[类别名称]</a:t>
                    </a:fld>
                    <a:r>
                      <a:rPr lang="en-US" altLang="zh-CN" b="1" baseline="0" dirty="0">
                        <a:solidFill>
                          <a:schemeClr val="tx1"/>
                        </a:solidFill>
                      </a:rPr>
                      <a:t>, </a:t>
                    </a:r>
                    <a:fld id="{4586119D-4919-44B3-A996-434AE445F0F7}" type="VALUE">
                      <a:rPr lang="en-US" altLang="zh-CN" b="1" baseline="0" dirty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[值]</a:t>
                    </a:fld>
                    <a:r>
                      <a:rPr lang="en-US" altLang="zh-CN" b="1" baseline="0" dirty="0">
                        <a:solidFill>
                          <a:schemeClr val="tx1"/>
                        </a:solidFill>
                      </a:rPr>
                      <a:t>, </a:t>
                    </a:r>
                    <a:fld id="{552E4DB1-EB55-436E-8030-A74CD9564A8F}" type="PERCENTAGE">
                      <a:rPr lang="en-US" altLang="zh-CN" b="1" baseline="0" dirty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[百分比]</a:t>
                    </a:fld>
                    <a:endParaRPr lang="en-US" altLang="zh-CN" b="1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447470246361512"/>
                      <c:h val="0.14455328010651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B10-46EE-8036-78A3849264D1}"/>
                </c:ext>
              </c:extLst>
            </c:dLbl>
            <c:dLbl>
              <c:idx val="1"/>
              <c:layout>
                <c:manualLayout>
                  <c:x val="0.21009991945339407"/>
                  <c:y val="0.2083264599188857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0C6BF68-6C9E-4685-B52B-D5BD29EAA69C}" type="CATEGORYNAME">
                      <a:rPr lang="zh-CN" altLang="en-US" b="1" baseline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[类别名称]</a:t>
                    </a:fld>
                    <a:r>
                      <a:rPr lang="en-US" altLang="zh-CN" b="1" baseline="0" dirty="0">
                        <a:solidFill>
                          <a:schemeClr val="tx1"/>
                        </a:solidFill>
                      </a:rPr>
                      <a:t>, </a:t>
                    </a:r>
                    <a:fld id="{B10645F4-E1D9-4A3B-9525-3CFDA8F96A58}" type="VALUE">
                      <a:rPr lang="en-US" altLang="zh-CN" b="1" baseline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[值]</a:t>
                    </a:fld>
                    <a:r>
                      <a:rPr lang="en-US" altLang="zh-CN" b="1" baseline="0" dirty="0">
                        <a:solidFill>
                          <a:schemeClr val="tx1"/>
                        </a:solidFill>
                      </a:rPr>
                      <a:t>, </a:t>
                    </a:r>
                    <a:fld id="{D178C363-FF50-42BD-AAD2-3B96C6CEC701}" type="PERCENTAGE">
                      <a:rPr lang="en-US" altLang="zh-CN" b="1" baseline="0">
                        <a:solidFill>
                          <a:schemeClr val="tx1"/>
                        </a:solidFill>
                      </a:rPr>
                      <a:pPr>
                        <a:defRPr b="1">
                          <a:solidFill>
                            <a:schemeClr val="tx1"/>
                          </a:solidFill>
                        </a:defRPr>
                      </a:pPr>
                      <a:t>[百分比]</a:t>
                    </a:fld>
                    <a:endParaRPr lang="en-US" altLang="zh-CN" b="1" baseline="0" dirty="0">
                      <a:solidFill>
                        <a:schemeClr val="tx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967277073380735"/>
                      <c:h val="0.147427102772650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B10-46EE-8036-78A3849264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门禁</c:v>
                </c:pt>
                <c:pt idx="1">
                  <c:v>对讲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0-46EE-8036-78A3849264D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AF3858-2CC0-4217-B00B-E5C83A14C8C7}" type="doc">
      <dgm:prSet loTypeId="urn:microsoft.com/office/officeart/2008/layout/HorizontalMultiLevelHierarchy" loCatId="hierarchy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92FBF20C-EC43-4CA2-BF47-45B606D216F0}">
      <dgm:prSet phldrT="[文本]" custT="1"/>
      <dgm:spPr/>
      <dgm:t>
        <a:bodyPr vert="vert"/>
        <a:lstStyle/>
        <a:p>
          <a:r>
            <a:rPr lang="zh-CN" altLang="en-US" sz="3600" dirty="0" smtClean="0"/>
            <a:t>需求</a:t>
          </a:r>
          <a:endParaRPr lang="zh-CN" altLang="en-US" sz="3600" dirty="0"/>
        </a:p>
      </dgm:t>
    </dgm:pt>
    <dgm:pt modelId="{40B4DF41-8EB2-4943-89C3-04958AB8BFC7}" type="parTrans" cxnId="{AAC321D2-E5A1-463A-AD81-2EC407249FE0}">
      <dgm:prSet/>
      <dgm:spPr/>
      <dgm:t>
        <a:bodyPr/>
        <a:lstStyle/>
        <a:p>
          <a:endParaRPr lang="zh-CN" altLang="en-US"/>
        </a:p>
      </dgm:t>
    </dgm:pt>
    <dgm:pt modelId="{147F5411-A1D2-40EE-8641-47EDC5B1FCC0}" type="sibTrans" cxnId="{AAC321D2-E5A1-463A-AD81-2EC407249FE0}">
      <dgm:prSet/>
      <dgm:spPr/>
      <dgm:t>
        <a:bodyPr/>
        <a:lstStyle/>
        <a:p>
          <a:endParaRPr lang="zh-CN" altLang="en-US"/>
        </a:p>
      </dgm:t>
    </dgm:pt>
    <dgm:pt modelId="{E1E5414E-9CE0-4406-BE73-3A5185449AEB}">
      <dgm:prSet phldrT="[文本]"/>
      <dgm:spPr/>
      <dgm:t>
        <a:bodyPr/>
        <a:lstStyle/>
        <a:p>
          <a:r>
            <a:rPr lang="zh-CN" altLang="en-US" dirty="0" smtClean="0"/>
            <a:t>用户名模糊搜索</a:t>
          </a:r>
          <a:endParaRPr lang="zh-CN" altLang="en-US" dirty="0"/>
        </a:p>
      </dgm:t>
    </dgm:pt>
    <dgm:pt modelId="{986D6F1B-5A4B-453C-AE0B-4AEE4C114B1E}" type="parTrans" cxnId="{80AC2E99-3BE8-4745-BF67-7F0991B751B8}">
      <dgm:prSet/>
      <dgm:spPr/>
      <dgm:t>
        <a:bodyPr/>
        <a:lstStyle/>
        <a:p>
          <a:endParaRPr lang="zh-CN" altLang="en-US"/>
        </a:p>
      </dgm:t>
    </dgm:pt>
    <dgm:pt modelId="{D87BDA15-03BC-433D-B723-3F2722BF8532}" type="sibTrans" cxnId="{80AC2E99-3BE8-4745-BF67-7F0991B751B8}">
      <dgm:prSet/>
      <dgm:spPr/>
      <dgm:t>
        <a:bodyPr/>
        <a:lstStyle/>
        <a:p>
          <a:endParaRPr lang="zh-CN" altLang="en-US"/>
        </a:p>
      </dgm:t>
    </dgm:pt>
    <dgm:pt modelId="{8DE8C0C6-FBB9-4277-8A9F-682D82D68CFB}">
      <dgm:prSet phldrT="[文本]"/>
      <dgm:spPr/>
      <dgm:t>
        <a:bodyPr/>
        <a:lstStyle/>
        <a:p>
          <a:r>
            <a:rPr lang="zh-CN" altLang="en-US" dirty="0" smtClean="0"/>
            <a:t>验证成功后</a:t>
          </a:r>
          <a:endParaRPr lang="en-US" altLang="zh-CN" dirty="0" smtClean="0"/>
        </a:p>
        <a:p>
          <a:r>
            <a:rPr lang="zh-CN" altLang="en-US" dirty="0" smtClean="0"/>
            <a:t>用户名隐私处理</a:t>
          </a:r>
          <a:endParaRPr lang="zh-CN" altLang="en-US" dirty="0"/>
        </a:p>
      </dgm:t>
    </dgm:pt>
    <dgm:pt modelId="{1636E491-10D6-441B-B46D-9A22EB5689B5}" type="parTrans" cxnId="{1400427F-C05C-400F-95BC-6F7FFA93D3F2}">
      <dgm:prSet/>
      <dgm:spPr/>
      <dgm:t>
        <a:bodyPr/>
        <a:lstStyle/>
        <a:p>
          <a:endParaRPr lang="zh-CN" altLang="en-US"/>
        </a:p>
      </dgm:t>
    </dgm:pt>
    <dgm:pt modelId="{1EBFF59E-7C6F-406E-80CD-E6F512825060}" type="sibTrans" cxnId="{1400427F-C05C-400F-95BC-6F7FFA93D3F2}">
      <dgm:prSet/>
      <dgm:spPr/>
      <dgm:t>
        <a:bodyPr/>
        <a:lstStyle/>
        <a:p>
          <a:endParaRPr lang="zh-CN" altLang="en-US"/>
        </a:p>
      </dgm:t>
    </dgm:pt>
    <dgm:pt modelId="{BB93469A-3CCF-4FEC-90B9-2465F9A0687D}" type="pres">
      <dgm:prSet presAssocID="{4DAF3858-2CC0-4217-B00B-E5C83A14C8C7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02C883A-AA10-4C35-B26C-8E7248E96F62}" type="pres">
      <dgm:prSet presAssocID="{92FBF20C-EC43-4CA2-BF47-45B606D216F0}" presName="root1" presStyleCnt="0"/>
      <dgm:spPr/>
    </dgm:pt>
    <dgm:pt modelId="{DE74FE6E-A1DB-467A-A797-594825A50B54}" type="pres">
      <dgm:prSet presAssocID="{92FBF20C-EC43-4CA2-BF47-45B606D216F0}" presName="LevelOneTextNode" presStyleLbl="node0" presStyleIdx="0" presStyleCnt="1" custScaleX="80657" custScaleY="42168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AC609F2-6EAD-415B-82A5-0BF6B2AD2915}" type="pres">
      <dgm:prSet presAssocID="{92FBF20C-EC43-4CA2-BF47-45B606D216F0}" presName="level2hierChild" presStyleCnt="0"/>
      <dgm:spPr/>
    </dgm:pt>
    <dgm:pt modelId="{6DD7A11B-2966-46C2-BA26-A0BD039154C2}" type="pres">
      <dgm:prSet presAssocID="{986D6F1B-5A4B-453C-AE0B-4AEE4C114B1E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8689C4AD-F82F-49CC-B53F-9D81A1377C21}" type="pres">
      <dgm:prSet presAssocID="{986D6F1B-5A4B-453C-AE0B-4AEE4C114B1E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7841C4D8-620E-4E9B-BCDE-F38D7E6F696B}" type="pres">
      <dgm:prSet presAssocID="{E1E5414E-9CE0-4406-BE73-3A5185449AEB}" presName="root2" presStyleCnt="0"/>
      <dgm:spPr/>
    </dgm:pt>
    <dgm:pt modelId="{3AD457B7-57C3-4FD3-AEFE-88E8D67193AB}" type="pres">
      <dgm:prSet presAssocID="{E1E5414E-9CE0-4406-BE73-3A5185449AEB}" presName="LevelTwoTextNode" presStyleLbl="node2" presStyleIdx="0" presStyleCnt="2" custScaleX="127738" custScaleY="12312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0BE22E8-3965-47CD-8148-2C5EECEE26BB}" type="pres">
      <dgm:prSet presAssocID="{E1E5414E-9CE0-4406-BE73-3A5185449AEB}" presName="level3hierChild" presStyleCnt="0"/>
      <dgm:spPr/>
    </dgm:pt>
    <dgm:pt modelId="{4A56E0FB-06DB-4E0E-B5AE-13D3AC591F95}" type="pres">
      <dgm:prSet presAssocID="{1636E491-10D6-441B-B46D-9A22EB5689B5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09ABB6B7-6EFC-4ACA-84AD-0DE631FB6752}" type="pres">
      <dgm:prSet presAssocID="{1636E491-10D6-441B-B46D-9A22EB5689B5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EC8E4A2B-3FBD-45F4-8B7D-0251B29854D4}" type="pres">
      <dgm:prSet presAssocID="{8DE8C0C6-FBB9-4277-8A9F-682D82D68CFB}" presName="root2" presStyleCnt="0"/>
      <dgm:spPr/>
    </dgm:pt>
    <dgm:pt modelId="{09F7B7AC-54E2-47D7-8115-777F3418B546}" type="pres">
      <dgm:prSet presAssocID="{8DE8C0C6-FBB9-4277-8A9F-682D82D68CFB}" presName="LevelTwoTextNode" presStyleLbl="node2" presStyleIdx="1" presStyleCnt="2" custScaleX="127738" custScaleY="12976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CC05A3E-7EF9-477E-9A26-31C9294A0FC2}" type="pres">
      <dgm:prSet presAssocID="{8DE8C0C6-FBB9-4277-8A9F-682D82D68CFB}" presName="level3hierChild" presStyleCnt="0"/>
      <dgm:spPr/>
    </dgm:pt>
  </dgm:ptLst>
  <dgm:cxnLst>
    <dgm:cxn modelId="{1400427F-C05C-400F-95BC-6F7FFA93D3F2}" srcId="{92FBF20C-EC43-4CA2-BF47-45B606D216F0}" destId="{8DE8C0C6-FBB9-4277-8A9F-682D82D68CFB}" srcOrd="1" destOrd="0" parTransId="{1636E491-10D6-441B-B46D-9A22EB5689B5}" sibTransId="{1EBFF59E-7C6F-406E-80CD-E6F512825060}"/>
    <dgm:cxn modelId="{12D0E880-C56C-4403-922C-0F442CC08E86}" type="presOf" srcId="{4DAF3858-2CC0-4217-B00B-E5C83A14C8C7}" destId="{BB93469A-3CCF-4FEC-90B9-2465F9A0687D}" srcOrd="0" destOrd="0" presId="urn:microsoft.com/office/officeart/2008/layout/HorizontalMultiLevelHierarchy"/>
    <dgm:cxn modelId="{3A6BDCE6-AB28-4D34-ABA8-3DFD0F0F9814}" type="presOf" srcId="{986D6F1B-5A4B-453C-AE0B-4AEE4C114B1E}" destId="{8689C4AD-F82F-49CC-B53F-9D81A1377C21}" srcOrd="1" destOrd="0" presId="urn:microsoft.com/office/officeart/2008/layout/HorizontalMultiLevelHierarchy"/>
    <dgm:cxn modelId="{956CD323-E228-4AB4-A540-CF8EDB55E809}" type="presOf" srcId="{8DE8C0C6-FBB9-4277-8A9F-682D82D68CFB}" destId="{09F7B7AC-54E2-47D7-8115-777F3418B546}" srcOrd="0" destOrd="0" presId="urn:microsoft.com/office/officeart/2008/layout/HorizontalMultiLevelHierarchy"/>
    <dgm:cxn modelId="{0C6D4721-89A4-4176-8950-C6A24EB1CDAA}" type="presOf" srcId="{1636E491-10D6-441B-B46D-9A22EB5689B5}" destId="{09ABB6B7-6EFC-4ACA-84AD-0DE631FB6752}" srcOrd="1" destOrd="0" presId="urn:microsoft.com/office/officeart/2008/layout/HorizontalMultiLevelHierarchy"/>
    <dgm:cxn modelId="{1C6DB1A5-3E9A-43CC-A152-F5815BB86378}" type="presOf" srcId="{92FBF20C-EC43-4CA2-BF47-45B606D216F0}" destId="{DE74FE6E-A1DB-467A-A797-594825A50B54}" srcOrd="0" destOrd="0" presId="urn:microsoft.com/office/officeart/2008/layout/HorizontalMultiLevelHierarchy"/>
    <dgm:cxn modelId="{80AC2E99-3BE8-4745-BF67-7F0991B751B8}" srcId="{92FBF20C-EC43-4CA2-BF47-45B606D216F0}" destId="{E1E5414E-9CE0-4406-BE73-3A5185449AEB}" srcOrd="0" destOrd="0" parTransId="{986D6F1B-5A4B-453C-AE0B-4AEE4C114B1E}" sibTransId="{D87BDA15-03BC-433D-B723-3F2722BF8532}"/>
    <dgm:cxn modelId="{720652DB-80ED-4911-8676-38EBC7C0D34C}" type="presOf" srcId="{986D6F1B-5A4B-453C-AE0B-4AEE4C114B1E}" destId="{6DD7A11B-2966-46C2-BA26-A0BD039154C2}" srcOrd="0" destOrd="0" presId="urn:microsoft.com/office/officeart/2008/layout/HorizontalMultiLevelHierarchy"/>
    <dgm:cxn modelId="{02705EAF-9B63-48DD-8E2F-B01EC040E5F8}" type="presOf" srcId="{1636E491-10D6-441B-B46D-9A22EB5689B5}" destId="{4A56E0FB-06DB-4E0E-B5AE-13D3AC591F95}" srcOrd="0" destOrd="0" presId="urn:microsoft.com/office/officeart/2008/layout/HorizontalMultiLevelHierarchy"/>
    <dgm:cxn modelId="{AAC321D2-E5A1-463A-AD81-2EC407249FE0}" srcId="{4DAF3858-2CC0-4217-B00B-E5C83A14C8C7}" destId="{92FBF20C-EC43-4CA2-BF47-45B606D216F0}" srcOrd="0" destOrd="0" parTransId="{40B4DF41-8EB2-4943-89C3-04958AB8BFC7}" sibTransId="{147F5411-A1D2-40EE-8641-47EDC5B1FCC0}"/>
    <dgm:cxn modelId="{AC4C7E77-C5AF-487C-89E3-53786DE76361}" type="presOf" srcId="{E1E5414E-9CE0-4406-BE73-3A5185449AEB}" destId="{3AD457B7-57C3-4FD3-AEFE-88E8D67193AB}" srcOrd="0" destOrd="0" presId="urn:microsoft.com/office/officeart/2008/layout/HorizontalMultiLevelHierarchy"/>
    <dgm:cxn modelId="{F5C4341A-E711-4FD7-884A-9D4529DA5295}" type="presParOf" srcId="{BB93469A-3CCF-4FEC-90B9-2465F9A0687D}" destId="{702C883A-AA10-4C35-B26C-8E7248E96F62}" srcOrd="0" destOrd="0" presId="urn:microsoft.com/office/officeart/2008/layout/HorizontalMultiLevelHierarchy"/>
    <dgm:cxn modelId="{47D32516-D2C5-47A5-BECD-E03321CD94F8}" type="presParOf" srcId="{702C883A-AA10-4C35-B26C-8E7248E96F62}" destId="{DE74FE6E-A1DB-467A-A797-594825A50B54}" srcOrd="0" destOrd="0" presId="urn:microsoft.com/office/officeart/2008/layout/HorizontalMultiLevelHierarchy"/>
    <dgm:cxn modelId="{F0F6E2CF-0FAA-4CD7-83BC-16D1B38BEEBF}" type="presParOf" srcId="{702C883A-AA10-4C35-B26C-8E7248E96F62}" destId="{8AC609F2-6EAD-415B-82A5-0BF6B2AD2915}" srcOrd="1" destOrd="0" presId="urn:microsoft.com/office/officeart/2008/layout/HorizontalMultiLevelHierarchy"/>
    <dgm:cxn modelId="{AA0C7787-C47E-4BF4-AD4B-1956F5C7082A}" type="presParOf" srcId="{8AC609F2-6EAD-415B-82A5-0BF6B2AD2915}" destId="{6DD7A11B-2966-46C2-BA26-A0BD039154C2}" srcOrd="0" destOrd="0" presId="urn:microsoft.com/office/officeart/2008/layout/HorizontalMultiLevelHierarchy"/>
    <dgm:cxn modelId="{9603802F-4BCA-494C-8918-C78CFFE30398}" type="presParOf" srcId="{6DD7A11B-2966-46C2-BA26-A0BD039154C2}" destId="{8689C4AD-F82F-49CC-B53F-9D81A1377C21}" srcOrd="0" destOrd="0" presId="urn:microsoft.com/office/officeart/2008/layout/HorizontalMultiLevelHierarchy"/>
    <dgm:cxn modelId="{B81E9D06-9930-4E8A-8F80-6A9DF4E9E6CD}" type="presParOf" srcId="{8AC609F2-6EAD-415B-82A5-0BF6B2AD2915}" destId="{7841C4D8-620E-4E9B-BCDE-F38D7E6F696B}" srcOrd="1" destOrd="0" presId="urn:microsoft.com/office/officeart/2008/layout/HorizontalMultiLevelHierarchy"/>
    <dgm:cxn modelId="{70239328-F1A6-4DD3-A8C6-3B7300B591B3}" type="presParOf" srcId="{7841C4D8-620E-4E9B-BCDE-F38D7E6F696B}" destId="{3AD457B7-57C3-4FD3-AEFE-88E8D67193AB}" srcOrd="0" destOrd="0" presId="urn:microsoft.com/office/officeart/2008/layout/HorizontalMultiLevelHierarchy"/>
    <dgm:cxn modelId="{B3C71DA5-7172-46D4-B0DE-AF7911FB3C78}" type="presParOf" srcId="{7841C4D8-620E-4E9B-BCDE-F38D7E6F696B}" destId="{70BE22E8-3965-47CD-8148-2C5EECEE26BB}" srcOrd="1" destOrd="0" presId="urn:microsoft.com/office/officeart/2008/layout/HorizontalMultiLevelHierarchy"/>
    <dgm:cxn modelId="{260DAD17-FEAB-401F-AD42-870DD76BF80E}" type="presParOf" srcId="{8AC609F2-6EAD-415B-82A5-0BF6B2AD2915}" destId="{4A56E0FB-06DB-4E0E-B5AE-13D3AC591F95}" srcOrd="2" destOrd="0" presId="urn:microsoft.com/office/officeart/2008/layout/HorizontalMultiLevelHierarchy"/>
    <dgm:cxn modelId="{34E7942D-F990-46B6-8904-66D8E464AF27}" type="presParOf" srcId="{4A56E0FB-06DB-4E0E-B5AE-13D3AC591F95}" destId="{09ABB6B7-6EFC-4ACA-84AD-0DE631FB6752}" srcOrd="0" destOrd="0" presId="urn:microsoft.com/office/officeart/2008/layout/HorizontalMultiLevelHierarchy"/>
    <dgm:cxn modelId="{A1A561AB-B857-4BCD-9012-E6C3F79CF392}" type="presParOf" srcId="{8AC609F2-6EAD-415B-82A5-0BF6B2AD2915}" destId="{EC8E4A2B-3FBD-45F4-8B7D-0251B29854D4}" srcOrd="3" destOrd="0" presId="urn:microsoft.com/office/officeart/2008/layout/HorizontalMultiLevelHierarchy"/>
    <dgm:cxn modelId="{133D3013-F0E8-4AB5-A25A-AF1780EA26AE}" type="presParOf" srcId="{EC8E4A2B-3FBD-45F4-8B7D-0251B29854D4}" destId="{09F7B7AC-54E2-47D7-8115-777F3418B546}" srcOrd="0" destOrd="0" presId="urn:microsoft.com/office/officeart/2008/layout/HorizontalMultiLevelHierarchy"/>
    <dgm:cxn modelId="{C37760D7-6E32-447B-B6BB-944343D5A428}" type="presParOf" srcId="{EC8E4A2B-3FBD-45F4-8B7D-0251B29854D4}" destId="{1CC05A3E-7EF9-477E-9A26-31C9294A0FC2}" srcOrd="1" destOrd="0" presId="urn:microsoft.com/office/officeart/2008/layout/HorizontalMultiLevelHierarchy"/>
  </dgm:cxnLst>
  <dgm:bg>
    <a:noFill/>
    <a:effectLst>
      <a:outerShdw blurRad="50800" dist="38100" dir="5400000" algn="t" rotWithShape="0">
        <a:prstClr val="black">
          <a:alpha val="40000"/>
        </a:prstClr>
      </a:outerShdw>
    </a:effectLst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E981C1-C238-4992-9DFA-B00301F100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C6D24C3-6713-48F9-8BEE-9F5EF0424E2E}">
      <dgm:prSet phldrT="[文本]" custT="1"/>
      <dgm:spPr/>
      <dgm:t>
        <a:bodyPr/>
        <a:lstStyle/>
        <a:p>
          <a:pPr algn="ctr"/>
          <a:r>
            <a:rPr lang="en-US" altLang="zh-CN" sz="2000" b="1" dirty="0" smtClean="0">
              <a:solidFill>
                <a:schemeClr val="bg1"/>
              </a:solidFill>
            </a:rPr>
            <a:t>UTF8</a:t>
          </a:r>
          <a:r>
            <a:rPr lang="zh-CN" altLang="en-US" sz="2000" b="1" dirty="0" smtClean="0">
              <a:solidFill>
                <a:schemeClr val="bg1"/>
              </a:solidFill>
            </a:rPr>
            <a:t>编码的汉字占</a:t>
          </a:r>
          <a:r>
            <a:rPr lang="en-US" altLang="zh-CN" sz="2000" b="1" dirty="0" smtClean="0">
              <a:solidFill>
                <a:schemeClr val="bg1"/>
              </a:solidFill>
            </a:rPr>
            <a:t>3</a:t>
          </a:r>
          <a:r>
            <a:rPr lang="zh-CN" altLang="en-US" sz="2000" b="1" dirty="0" smtClean="0">
              <a:solidFill>
                <a:schemeClr val="bg1"/>
              </a:solidFill>
            </a:rPr>
            <a:t>或</a:t>
          </a:r>
          <a:r>
            <a:rPr lang="en-US" altLang="zh-CN" sz="2000" b="1" dirty="0" smtClean="0">
              <a:solidFill>
                <a:schemeClr val="bg1"/>
              </a:solidFill>
            </a:rPr>
            <a:t>4</a:t>
          </a:r>
          <a:r>
            <a:rPr lang="zh-CN" altLang="en-US" sz="2000" b="1" dirty="0" smtClean="0">
              <a:solidFill>
                <a:schemeClr val="bg1"/>
              </a:solidFill>
            </a:rPr>
            <a:t>字节</a:t>
          </a:r>
          <a:endParaRPr lang="en-US" altLang="zh-CN" sz="2000" b="1" dirty="0" smtClean="0">
            <a:solidFill>
              <a:schemeClr val="bg1"/>
            </a:solidFill>
          </a:endParaRPr>
        </a:p>
        <a:p>
          <a:pPr algn="ctr"/>
          <a:r>
            <a:rPr lang="zh-CN" altLang="en-US" sz="2000" b="1" dirty="0" smtClean="0">
              <a:solidFill>
                <a:schemeClr val="bg1"/>
              </a:solidFill>
            </a:rPr>
            <a:t>转换成</a:t>
          </a:r>
          <a:r>
            <a:rPr lang="en-US" altLang="zh-CN" sz="2000" b="1" dirty="0" err="1" smtClean="0">
              <a:solidFill>
                <a:schemeClr val="bg1"/>
              </a:solidFill>
            </a:rPr>
            <a:t>gbk</a:t>
          </a:r>
          <a:r>
            <a:rPr lang="zh-CN" altLang="en-US" sz="2000" b="1" dirty="0" smtClean="0">
              <a:solidFill>
                <a:schemeClr val="bg1"/>
              </a:solidFill>
            </a:rPr>
            <a:t>，固定占两字节</a:t>
          </a:r>
          <a:endParaRPr lang="zh-CN" altLang="en-US" sz="2000" dirty="0">
            <a:solidFill>
              <a:schemeClr val="bg1"/>
            </a:solidFill>
          </a:endParaRPr>
        </a:p>
      </dgm:t>
    </dgm:pt>
    <dgm:pt modelId="{132862C5-5967-41D7-9030-F36CF9EEA398}" type="parTrans" cxnId="{2160E028-8D88-4E08-B0BB-4DCF7EC0E46D}">
      <dgm:prSet/>
      <dgm:spPr/>
      <dgm:t>
        <a:bodyPr/>
        <a:lstStyle/>
        <a:p>
          <a:endParaRPr lang="zh-CN" altLang="en-US"/>
        </a:p>
      </dgm:t>
    </dgm:pt>
    <dgm:pt modelId="{B740AFE3-8534-4300-B141-7746B46EBE8E}" type="sibTrans" cxnId="{2160E028-8D88-4E08-B0BB-4DCF7EC0E46D}">
      <dgm:prSet/>
      <dgm:spPr/>
      <dgm:t>
        <a:bodyPr/>
        <a:lstStyle/>
        <a:p>
          <a:endParaRPr lang="zh-CN" altLang="en-US"/>
        </a:p>
      </dgm:t>
    </dgm:pt>
    <dgm:pt modelId="{2EBC82A4-3373-4A4A-ACCC-811C699DDC5B}" type="pres">
      <dgm:prSet presAssocID="{57E981C1-C238-4992-9DFA-B00301F100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02C7C7-B177-4999-89B5-C336CD69EC3B}" type="pres">
      <dgm:prSet presAssocID="{8C6D24C3-6713-48F9-8BEE-9F5EF0424E2E}" presName="parentText" presStyleLbl="node1" presStyleIdx="0" presStyleCnt="1" custLinFactNeighborX="6886" custLinFactNeighborY="-404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56D4340-390C-48D7-80CE-CF62C874E916}" type="presOf" srcId="{8C6D24C3-6713-48F9-8BEE-9F5EF0424E2E}" destId="{8302C7C7-B177-4999-89B5-C336CD69EC3B}" srcOrd="0" destOrd="0" presId="urn:microsoft.com/office/officeart/2005/8/layout/vList2"/>
    <dgm:cxn modelId="{4CA95AF0-0F9E-4063-B1B5-CDE3C13A5DA0}" type="presOf" srcId="{57E981C1-C238-4992-9DFA-B00301F1005D}" destId="{2EBC82A4-3373-4A4A-ACCC-811C699DDC5B}" srcOrd="0" destOrd="0" presId="urn:microsoft.com/office/officeart/2005/8/layout/vList2"/>
    <dgm:cxn modelId="{2160E028-8D88-4E08-B0BB-4DCF7EC0E46D}" srcId="{57E981C1-C238-4992-9DFA-B00301F1005D}" destId="{8C6D24C3-6713-48F9-8BEE-9F5EF0424E2E}" srcOrd="0" destOrd="0" parTransId="{132862C5-5967-41D7-9030-F36CF9EEA398}" sibTransId="{B740AFE3-8534-4300-B141-7746B46EBE8E}"/>
    <dgm:cxn modelId="{5C7B3DDF-3835-43EC-836C-E73221C1BB2B}" type="presParOf" srcId="{2EBC82A4-3373-4A4A-ACCC-811C699DDC5B}" destId="{8302C7C7-B177-4999-89B5-C336CD69EC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E981C1-C238-4992-9DFA-B00301F1005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8C6D24C3-6713-48F9-8BEE-9F5EF0424E2E}">
      <dgm:prSet phldrT="[文本]" custT="1"/>
      <dgm:spPr>
        <a:solidFill>
          <a:schemeClr val="accent1"/>
        </a:solidFill>
      </dgm:spPr>
      <dgm:t>
        <a:bodyPr/>
        <a:lstStyle/>
        <a:p>
          <a:pPr algn="ctr"/>
          <a:r>
            <a:rPr lang="zh-CN" altLang="en-US" sz="2000" dirty="0" smtClean="0"/>
            <a:t>必须是纯汉字</a:t>
          </a:r>
          <a:endParaRPr lang="zh-CN" altLang="en-US" sz="2000" dirty="0"/>
        </a:p>
      </dgm:t>
    </dgm:pt>
    <dgm:pt modelId="{132862C5-5967-41D7-9030-F36CF9EEA398}" type="parTrans" cxnId="{2160E028-8D88-4E08-B0BB-4DCF7EC0E46D}">
      <dgm:prSet/>
      <dgm:spPr/>
      <dgm:t>
        <a:bodyPr/>
        <a:lstStyle/>
        <a:p>
          <a:endParaRPr lang="zh-CN" altLang="en-US"/>
        </a:p>
      </dgm:t>
    </dgm:pt>
    <dgm:pt modelId="{B740AFE3-8534-4300-B141-7746B46EBE8E}" type="sibTrans" cxnId="{2160E028-8D88-4E08-B0BB-4DCF7EC0E46D}">
      <dgm:prSet/>
      <dgm:spPr/>
      <dgm:t>
        <a:bodyPr/>
        <a:lstStyle/>
        <a:p>
          <a:endParaRPr lang="zh-CN" altLang="en-US"/>
        </a:p>
      </dgm:t>
    </dgm:pt>
    <dgm:pt modelId="{2EBC82A4-3373-4A4A-ACCC-811C699DDC5B}" type="pres">
      <dgm:prSet presAssocID="{57E981C1-C238-4992-9DFA-B00301F100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02C7C7-B177-4999-89B5-C336CD69EC3B}" type="pres">
      <dgm:prSet presAssocID="{8C6D24C3-6713-48F9-8BEE-9F5EF0424E2E}" presName="parentText" presStyleLbl="node1" presStyleIdx="0" presStyleCnt="1" custLinFactNeighborX="6886" custLinFactNeighborY="-404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56D4340-390C-48D7-80CE-CF62C874E916}" type="presOf" srcId="{8C6D24C3-6713-48F9-8BEE-9F5EF0424E2E}" destId="{8302C7C7-B177-4999-89B5-C336CD69EC3B}" srcOrd="0" destOrd="0" presId="urn:microsoft.com/office/officeart/2005/8/layout/vList2"/>
    <dgm:cxn modelId="{4CA95AF0-0F9E-4063-B1B5-CDE3C13A5DA0}" type="presOf" srcId="{57E981C1-C238-4992-9DFA-B00301F1005D}" destId="{2EBC82A4-3373-4A4A-ACCC-811C699DDC5B}" srcOrd="0" destOrd="0" presId="urn:microsoft.com/office/officeart/2005/8/layout/vList2"/>
    <dgm:cxn modelId="{2160E028-8D88-4E08-B0BB-4DCF7EC0E46D}" srcId="{57E981C1-C238-4992-9DFA-B00301F1005D}" destId="{8C6D24C3-6713-48F9-8BEE-9F5EF0424E2E}" srcOrd="0" destOrd="0" parTransId="{132862C5-5967-41D7-9030-F36CF9EEA398}" sibTransId="{B740AFE3-8534-4300-B141-7746B46EBE8E}"/>
    <dgm:cxn modelId="{5C7B3DDF-3835-43EC-836C-E73221C1BB2B}" type="presParOf" srcId="{2EBC82A4-3373-4A4A-ACCC-811C699DDC5B}" destId="{8302C7C7-B177-4999-89B5-C336CD69EC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E981C1-C238-4992-9DFA-B00301F100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C6D24C3-6713-48F9-8BEE-9F5EF0424E2E}">
      <dgm:prSet phldrT="[文本]" custT="1"/>
      <dgm:spPr>
        <a:solidFill>
          <a:schemeClr val="accent2"/>
        </a:solidFill>
      </dgm:spPr>
      <dgm:t>
        <a:bodyPr/>
        <a:lstStyle/>
        <a:p>
          <a:pPr algn="ctr"/>
          <a:r>
            <a:rPr lang="zh-CN" altLang="en-US" sz="2000" dirty="0" smtClean="0">
              <a:solidFill>
                <a:schemeClr val="bg1"/>
              </a:solidFill>
            </a:rPr>
            <a:t>缺乏健壮性</a:t>
          </a:r>
          <a:endParaRPr lang="zh-CN" altLang="en-US" sz="2000" dirty="0">
            <a:solidFill>
              <a:schemeClr val="bg1"/>
            </a:solidFill>
          </a:endParaRPr>
        </a:p>
      </dgm:t>
    </dgm:pt>
    <dgm:pt modelId="{132862C5-5967-41D7-9030-F36CF9EEA398}" type="parTrans" cxnId="{2160E028-8D88-4E08-B0BB-4DCF7EC0E46D}">
      <dgm:prSet/>
      <dgm:spPr/>
      <dgm:t>
        <a:bodyPr/>
        <a:lstStyle/>
        <a:p>
          <a:endParaRPr lang="zh-CN" altLang="en-US"/>
        </a:p>
      </dgm:t>
    </dgm:pt>
    <dgm:pt modelId="{B740AFE3-8534-4300-B141-7746B46EBE8E}" type="sibTrans" cxnId="{2160E028-8D88-4E08-B0BB-4DCF7EC0E46D}">
      <dgm:prSet/>
      <dgm:spPr/>
      <dgm:t>
        <a:bodyPr/>
        <a:lstStyle/>
        <a:p>
          <a:endParaRPr lang="zh-CN" altLang="en-US"/>
        </a:p>
      </dgm:t>
    </dgm:pt>
    <dgm:pt modelId="{2EBC82A4-3373-4A4A-ACCC-811C699DDC5B}" type="pres">
      <dgm:prSet presAssocID="{57E981C1-C238-4992-9DFA-B00301F100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302C7C7-B177-4999-89B5-C336CD69EC3B}" type="pres">
      <dgm:prSet presAssocID="{8C6D24C3-6713-48F9-8BEE-9F5EF0424E2E}" presName="parentText" presStyleLbl="node1" presStyleIdx="0" presStyleCnt="1" custLinFactNeighborX="6886" custLinFactNeighborY="-404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56D4340-390C-48D7-80CE-CF62C874E916}" type="presOf" srcId="{8C6D24C3-6713-48F9-8BEE-9F5EF0424E2E}" destId="{8302C7C7-B177-4999-89B5-C336CD69EC3B}" srcOrd="0" destOrd="0" presId="urn:microsoft.com/office/officeart/2005/8/layout/vList2"/>
    <dgm:cxn modelId="{4CA95AF0-0F9E-4063-B1B5-CDE3C13A5DA0}" type="presOf" srcId="{57E981C1-C238-4992-9DFA-B00301F1005D}" destId="{2EBC82A4-3373-4A4A-ACCC-811C699DDC5B}" srcOrd="0" destOrd="0" presId="urn:microsoft.com/office/officeart/2005/8/layout/vList2"/>
    <dgm:cxn modelId="{2160E028-8D88-4E08-B0BB-4DCF7EC0E46D}" srcId="{57E981C1-C238-4992-9DFA-B00301F1005D}" destId="{8C6D24C3-6713-48F9-8BEE-9F5EF0424E2E}" srcOrd="0" destOrd="0" parTransId="{132862C5-5967-41D7-9030-F36CF9EEA398}" sibTransId="{B740AFE3-8534-4300-B141-7746B46EBE8E}"/>
    <dgm:cxn modelId="{5C7B3DDF-3835-43EC-836C-E73221C1BB2B}" type="presParOf" srcId="{2EBC82A4-3373-4A4A-ACCC-811C699DDC5B}" destId="{8302C7C7-B177-4999-89B5-C336CD69EC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56E0FB-06DB-4E0E-B5AE-13D3AC591F95}">
      <dsp:nvSpPr>
        <dsp:cNvPr id="0" name=""/>
        <dsp:cNvSpPr/>
      </dsp:nvSpPr>
      <dsp:spPr>
        <a:xfrm>
          <a:off x="1488531" y="2032000"/>
          <a:ext cx="506536" cy="5718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53268" y="0"/>
              </a:lnTo>
              <a:lnTo>
                <a:pt x="253268" y="571888"/>
              </a:lnTo>
              <a:lnTo>
                <a:pt x="506536" y="571888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1722701" y="2298845"/>
        <a:ext cx="38198" cy="38198"/>
      </dsp:txXfrm>
    </dsp:sp>
    <dsp:sp modelId="{6DD7A11B-2966-46C2-BA26-A0BD039154C2}">
      <dsp:nvSpPr>
        <dsp:cNvPr id="0" name=""/>
        <dsp:cNvSpPr/>
      </dsp:nvSpPr>
      <dsp:spPr>
        <a:xfrm>
          <a:off x="1488531" y="1434479"/>
          <a:ext cx="506536" cy="597520"/>
        </a:xfrm>
        <a:custGeom>
          <a:avLst/>
          <a:gdLst/>
          <a:ahLst/>
          <a:cxnLst/>
          <a:rect l="0" t="0" r="0" b="0"/>
          <a:pathLst>
            <a:path>
              <a:moveTo>
                <a:pt x="0" y="597520"/>
              </a:moveTo>
              <a:lnTo>
                <a:pt x="253268" y="597520"/>
              </a:lnTo>
              <a:lnTo>
                <a:pt x="253268" y="0"/>
              </a:lnTo>
              <a:lnTo>
                <a:pt x="506536" y="0"/>
              </a:lnTo>
            </a:path>
          </a:pathLst>
        </a:custGeom>
        <a:noFill/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500" kern="1200"/>
        </a:p>
      </dsp:txBody>
      <dsp:txXfrm>
        <a:off x="1722216" y="1713656"/>
        <a:ext cx="39166" cy="39166"/>
      </dsp:txXfrm>
    </dsp:sp>
    <dsp:sp modelId="{DE74FE6E-A1DB-467A-A797-594825A50B54}">
      <dsp:nvSpPr>
        <dsp:cNvPr id="0" name=""/>
        <dsp:cNvSpPr/>
      </dsp:nvSpPr>
      <dsp:spPr>
        <a:xfrm rot="16200000">
          <a:off x="320277" y="1720599"/>
          <a:ext cx="1713707" cy="62280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vert" wrap="square" lIns="22860" tIns="22860" rIns="22860" bIns="228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需求</a:t>
          </a:r>
          <a:endParaRPr lang="zh-CN" altLang="en-US" sz="3600" kern="1200" dirty="0"/>
        </a:p>
      </dsp:txBody>
      <dsp:txXfrm>
        <a:off x="320277" y="1720599"/>
        <a:ext cx="1713707" cy="622801"/>
      </dsp:txXfrm>
    </dsp:sp>
    <dsp:sp modelId="{3AD457B7-57C3-4FD3-AEFE-88E8D67193AB}">
      <dsp:nvSpPr>
        <dsp:cNvPr id="0" name=""/>
        <dsp:cNvSpPr/>
      </dsp:nvSpPr>
      <dsp:spPr>
        <a:xfrm>
          <a:off x="1995068" y="959110"/>
          <a:ext cx="3235200" cy="9507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用户名模糊搜索</a:t>
          </a:r>
          <a:endParaRPr lang="zh-CN" altLang="en-US" sz="1900" kern="1200" dirty="0"/>
        </a:p>
      </dsp:txBody>
      <dsp:txXfrm>
        <a:off x="1995068" y="959110"/>
        <a:ext cx="3235200" cy="950737"/>
      </dsp:txXfrm>
    </dsp:sp>
    <dsp:sp modelId="{09F7B7AC-54E2-47D7-8115-777F3418B546}">
      <dsp:nvSpPr>
        <dsp:cNvPr id="0" name=""/>
        <dsp:cNvSpPr/>
      </dsp:nvSpPr>
      <dsp:spPr>
        <a:xfrm>
          <a:off x="1995068" y="2102888"/>
          <a:ext cx="3235200" cy="100200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验证成功后</a:t>
          </a:r>
          <a:endParaRPr lang="en-US" altLang="zh-CN" sz="1900" kern="1200" dirty="0" smtClean="0"/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用户名隐私处理</a:t>
          </a:r>
          <a:endParaRPr lang="zh-CN" altLang="en-US" sz="1900" kern="1200" dirty="0"/>
        </a:p>
      </dsp:txBody>
      <dsp:txXfrm>
        <a:off x="1995068" y="2102888"/>
        <a:ext cx="3235200" cy="10020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2C7C7-B177-4999-89B5-C336CD69EC3B}">
      <dsp:nvSpPr>
        <dsp:cNvPr id="0" name=""/>
        <dsp:cNvSpPr/>
      </dsp:nvSpPr>
      <dsp:spPr>
        <a:xfrm>
          <a:off x="0" y="222839"/>
          <a:ext cx="39481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>
              <a:solidFill>
                <a:schemeClr val="bg1"/>
              </a:solidFill>
            </a:rPr>
            <a:t>UTF8</a:t>
          </a:r>
          <a:r>
            <a:rPr lang="zh-CN" altLang="en-US" sz="2000" b="1" kern="1200" dirty="0" smtClean="0">
              <a:solidFill>
                <a:schemeClr val="bg1"/>
              </a:solidFill>
            </a:rPr>
            <a:t>编码的汉字占</a:t>
          </a:r>
          <a:r>
            <a:rPr lang="en-US" altLang="zh-CN" sz="2000" b="1" kern="1200" dirty="0" smtClean="0">
              <a:solidFill>
                <a:schemeClr val="bg1"/>
              </a:solidFill>
            </a:rPr>
            <a:t>3</a:t>
          </a:r>
          <a:r>
            <a:rPr lang="zh-CN" altLang="en-US" sz="2000" b="1" kern="1200" dirty="0" smtClean="0">
              <a:solidFill>
                <a:schemeClr val="bg1"/>
              </a:solidFill>
            </a:rPr>
            <a:t>或</a:t>
          </a:r>
          <a:r>
            <a:rPr lang="en-US" altLang="zh-CN" sz="2000" b="1" kern="1200" dirty="0" smtClean="0">
              <a:solidFill>
                <a:schemeClr val="bg1"/>
              </a:solidFill>
            </a:rPr>
            <a:t>4</a:t>
          </a:r>
          <a:r>
            <a:rPr lang="zh-CN" altLang="en-US" sz="2000" b="1" kern="1200" dirty="0" smtClean="0">
              <a:solidFill>
                <a:schemeClr val="bg1"/>
              </a:solidFill>
            </a:rPr>
            <a:t>字节</a:t>
          </a:r>
          <a:endParaRPr lang="en-US" altLang="zh-CN" sz="2000" b="1" kern="1200" dirty="0" smtClean="0">
            <a:solidFill>
              <a:schemeClr val="bg1"/>
            </a:solidFill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solidFill>
                <a:schemeClr val="bg1"/>
              </a:solidFill>
            </a:rPr>
            <a:t>转换成</a:t>
          </a:r>
          <a:r>
            <a:rPr lang="en-US" altLang="zh-CN" sz="2000" b="1" kern="1200" dirty="0" err="1" smtClean="0">
              <a:solidFill>
                <a:schemeClr val="bg1"/>
              </a:solidFill>
            </a:rPr>
            <a:t>gbk</a:t>
          </a:r>
          <a:r>
            <a:rPr lang="zh-CN" altLang="en-US" sz="2000" b="1" kern="1200" dirty="0" smtClean="0">
              <a:solidFill>
                <a:schemeClr val="bg1"/>
              </a:solidFill>
            </a:rPr>
            <a:t>，固定占两字节</a:t>
          </a:r>
          <a:endParaRPr lang="zh-CN" altLang="en-US" sz="2000" kern="1200" dirty="0">
            <a:solidFill>
              <a:schemeClr val="bg1"/>
            </a:solidFill>
          </a:endParaRPr>
        </a:p>
      </dsp:txBody>
      <dsp:txXfrm>
        <a:off x="59399" y="282238"/>
        <a:ext cx="3829302" cy="10980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2C7C7-B177-4999-89B5-C336CD69EC3B}">
      <dsp:nvSpPr>
        <dsp:cNvPr id="0" name=""/>
        <dsp:cNvSpPr/>
      </dsp:nvSpPr>
      <dsp:spPr>
        <a:xfrm>
          <a:off x="0" y="222839"/>
          <a:ext cx="3948100" cy="1216800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必须是纯汉字</a:t>
          </a:r>
          <a:endParaRPr lang="zh-CN" altLang="en-US" sz="2000" kern="1200" dirty="0"/>
        </a:p>
      </dsp:txBody>
      <dsp:txXfrm>
        <a:off x="59399" y="282238"/>
        <a:ext cx="3829302" cy="10980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2C7C7-B177-4999-89B5-C336CD69EC3B}">
      <dsp:nvSpPr>
        <dsp:cNvPr id="0" name=""/>
        <dsp:cNvSpPr/>
      </dsp:nvSpPr>
      <dsp:spPr>
        <a:xfrm>
          <a:off x="0" y="144815"/>
          <a:ext cx="2376264" cy="1216800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>
              <a:solidFill>
                <a:schemeClr val="bg1"/>
              </a:solidFill>
            </a:rPr>
            <a:t>缺乏健壮性</a:t>
          </a:r>
          <a:endParaRPr lang="zh-CN" altLang="en-US" sz="2000" kern="1200" dirty="0">
            <a:solidFill>
              <a:schemeClr val="bg1"/>
            </a:solidFill>
          </a:endParaRPr>
        </a:p>
      </dsp:txBody>
      <dsp:txXfrm>
        <a:off x="59399" y="204214"/>
        <a:ext cx="2257466" cy="10980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98A8F-EF58-4C3D-BBB3-B98E42950A62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45A0B-9971-44F9-BCA1-3F92626F0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89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日期占位符 2"/>
          <p:cNvSpPr>
            <a:spLocks noGrp="1"/>
          </p:cNvSpPr>
          <p:nvPr>
            <p:ph type="dt" sz="quarter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fld id="{6586A5D2-F62D-4D81-A3E2-1D695B940D93}" type="datetime1">
              <a:rPr lang="zh-CN" altLang="en-US" smtClean="0">
                <a:solidFill>
                  <a:prstClr val="black"/>
                </a:solidFill>
              </a:rPr>
              <a:pPr/>
              <a:t>2021/7/19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4264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  <p:sp>
        <p:nvSpPr>
          <p:cNvPr id="235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38188" indent="-2841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36650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92263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46288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034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606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178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750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059247A7-73B1-448E-B7C3-3C3A09A2479C}" type="slidenum">
              <a:rPr lang="zh-CN" altLang="en-US">
                <a:solidFill>
                  <a:srgbClr val="000000"/>
                </a:solidFill>
                <a:latin typeface="Calibri" pitchFamily="34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zh-CN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04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B45A0B-9971-44F9-BCA1-3F92626F04D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03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38188" indent="-2841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36650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92263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46288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034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606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178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750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244BCEA-A565-4A67-98BA-E43D9851A3FF}" type="slidenum">
              <a:rPr lang="zh-CN" altLang="en-US">
                <a:solidFill>
                  <a:srgbClr val="000000"/>
                </a:solidFill>
                <a:latin typeface="Calibri" pitchFamily="34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zh-CN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415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38188" indent="-2841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36650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592263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46288" indent="-2270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034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606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178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75088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7244BCEA-A565-4A67-98BA-E43D9851A3FF}" type="slidenum">
              <a:rPr lang="zh-CN" altLang="en-US">
                <a:solidFill>
                  <a:srgbClr val="000000"/>
                </a:solidFill>
                <a:latin typeface="Calibri" pitchFamily="34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zh-CN" altLang="en-US">
              <a:solidFill>
                <a:srgbClr val="0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34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B0B010-4AE4-47DF-9D4C-C7E05AC6AD44}" type="slidenum">
              <a:rPr lang="zh-CN" altLang="en-US" smtClean="0">
                <a:solidFill>
                  <a:prstClr val="black"/>
                </a:solidFill>
              </a:rPr>
              <a:pPr/>
              <a:t>12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45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PBand0"/>
          <p:cNvSpPr>
            <a:spLocks noGrp="1" noChangeArrowheads="1"/>
          </p:cNvSpPr>
          <p:nvPr>
            <p:ph type="ctrTitle"/>
          </p:nvPr>
        </p:nvSpPr>
        <p:spPr>
          <a:xfrm>
            <a:off x="1042988" y="4643438"/>
            <a:ext cx="7172325" cy="5778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4"/>
          <p:cNvSpPr>
            <a:spLocks noGrp="1"/>
          </p:cNvSpPr>
          <p:nvPr>
            <p:ph type="subTitle" idx="4294967295"/>
          </p:nvPr>
        </p:nvSpPr>
        <p:spPr>
          <a:xfrm>
            <a:off x="1522413" y="5287963"/>
            <a:ext cx="6192837" cy="647700"/>
          </a:xfrm>
        </p:spPr>
        <p:txBody>
          <a:bodyPr/>
          <a:lstStyle/>
          <a:p>
            <a:r>
              <a:rPr lang="zh-CN" altLang="en-US" dirty="0"/>
              <a:t>单击此处编辑母版副标题样式</a:t>
            </a:r>
          </a:p>
        </p:txBody>
      </p:sp>
      <p:pic>
        <p:nvPicPr>
          <p:cNvPr id="5" name="Picture 2" descr="C:\Users\fanliyuan\Desktop\PPT模板-25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4217520"/>
      </p:ext>
    </p:extLst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 baseline="0">
                <a:latin typeface="Verdana" pitchFamily="34" charset="0"/>
                <a:ea typeface="微软雅黑" pitchFamily="34" charset="-122"/>
              </a:defRPr>
            </a:lvl1pPr>
            <a:lvl2pPr>
              <a:defRPr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baseline="0">
                <a:latin typeface="Verdana" pitchFamily="34" charset="0"/>
                <a:ea typeface="微软雅黑" pitchFamily="34" charset="-122"/>
              </a:defRPr>
            </a:lvl4pPr>
            <a:lvl5pPr>
              <a:defRPr baseline="0">
                <a:latin typeface="Verdana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94418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7436267"/>
      </p:ext>
    </p:extLst>
  </p:cSld>
  <p:clrMapOvr>
    <a:masterClrMapping/>
  </p:clrMapOvr>
  <p:transition spd="slow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72932246"/>
      </p:ext>
    </p:extLst>
  </p:cSld>
  <p:clrMapOvr>
    <a:masterClrMapping/>
  </p:clrMapOvr>
  <p:transition spd="slow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735991"/>
      </p:ext>
    </p:extLst>
  </p:cSld>
  <p:clrMapOvr>
    <a:masterClrMapping/>
  </p:clrMapOvr>
  <p:transition spd="slow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04275532"/>
      </p:ext>
    </p:extLst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981736"/>
      </p:ext>
    </p:extLst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988566"/>
      </p:ext>
    </p:extLst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6026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960263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12231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71885548"/>
      </p:ext>
    </p:extLst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522575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37927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792490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95465207"/>
      </p:ext>
    </p:extLst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2833405"/>
      </p:ext>
    </p:extLst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55535841"/>
      </p:ext>
    </p:extLst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285750" y="1143000"/>
            <a:ext cx="8643938" cy="2500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>
          <a:xfrm>
            <a:off x="285750" y="3857625"/>
            <a:ext cx="8643938" cy="257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65932"/>
      </p:ext>
    </p:extLst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395536" y="1341438"/>
            <a:ext cx="8424936" cy="1511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395288" y="3284538"/>
            <a:ext cx="8424862" cy="2881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05902"/>
      </p:ext>
    </p:extLst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524328" y="6641976"/>
            <a:ext cx="1224136" cy="21602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8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32786" y="6641977"/>
            <a:ext cx="395934" cy="216023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fld id="{CFF10007-8FCC-43DC-B82D-4AE4189E914C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404664"/>
            <a:ext cx="6376640" cy="384498"/>
          </a:xfr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 dirty="0"/>
              <a:t>单击以编辑母片标题样式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2354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PPBand0"/>
          <p:cNvSpPr>
            <a:spLocks noGrp="1" noChangeArrowheads="1"/>
          </p:cNvSpPr>
          <p:nvPr>
            <p:ph type="ctrTitle"/>
          </p:nvPr>
        </p:nvSpPr>
        <p:spPr>
          <a:xfrm>
            <a:off x="1042988" y="4643438"/>
            <a:ext cx="7172325" cy="5778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4"/>
          <p:cNvSpPr>
            <a:spLocks noGrp="1"/>
          </p:cNvSpPr>
          <p:nvPr>
            <p:ph type="subTitle" idx="4294967295"/>
          </p:nvPr>
        </p:nvSpPr>
        <p:spPr>
          <a:xfrm>
            <a:off x="1522413" y="5287963"/>
            <a:ext cx="6192837" cy="647700"/>
          </a:xfrm>
        </p:spPr>
        <p:txBody>
          <a:bodyPr/>
          <a:lstStyle/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800034962"/>
      </p:ext>
    </p:extLst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Verdana" pitchFamily="34" charset="0"/>
                <a:ea typeface="微软雅黑" pitchFamily="34" charset="-122"/>
              </a:defRPr>
            </a:lvl1pPr>
            <a:lvl2pPr>
              <a:defRPr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baseline="0">
                <a:latin typeface="Verdana" pitchFamily="34" charset="0"/>
                <a:ea typeface="微软雅黑" pitchFamily="34" charset="-122"/>
              </a:defRPr>
            </a:lvl4pPr>
            <a:lvl5pPr>
              <a:defRPr baseline="0">
                <a:latin typeface="Verdana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94418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295336"/>
      </p:ext>
    </p:extLst>
  </p:cSld>
  <p:clrMapOvr>
    <a:masterClrMapping/>
  </p:clrMapOvr>
  <p:transition spd="slow">
    <p:pull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57822175"/>
      </p:ext>
    </p:extLst>
  </p:cSld>
  <p:clrMapOvr>
    <a:masterClrMapping/>
  </p:clrMapOvr>
  <p:transition spd="slow">
    <p:pull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9731393"/>
      </p:ext>
    </p:extLst>
  </p:cSld>
  <p:clrMapOvr>
    <a:masterClrMapping/>
  </p:clrMapOvr>
  <p:transition spd="slow">
    <p:pull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56993192"/>
      </p:ext>
    </p:extLst>
  </p:cSld>
  <p:clrMapOvr>
    <a:masterClrMapping/>
  </p:clrMapOvr>
  <p:transition spd="slow">
    <p:pull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590270"/>
      </p:ext>
    </p:extLst>
  </p:cSld>
  <p:clrMapOvr>
    <a:masterClrMapping/>
  </p:clrMapOvr>
  <p:transition spd="slow">
    <p:pull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119385"/>
      </p:ext>
    </p:extLst>
  </p:cSld>
  <p:clrMapOvr>
    <a:masterClrMapping/>
  </p:clrMapOvr>
  <p:transition spd="slow">
    <p:pull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6026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960263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12231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91350881"/>
      </p:ext>
    </p:extLst>
  </p:cSld>
  <p:clrMapOvr>
    <a:masterClrMapping/>
  </p:clrMapOvr>
  <p:transition spd="slow">
    <p:pull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522575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37927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792490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45470627"/>
      </p:ext>
    </p:extLst>
  </p:cSld>
  <p:clrMapOvr>
    <a:masterClrMapping/>
  </p:clrMapOvr>
  <p:transition spd="slow">
    <p:pull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54709060"/>
      </p:ext>
    </p:extLst>
  </p:cSld>
  <p:clrMapOvr>
    <a:masterClrMapping/>
  </p:clrMapOvr>
  <p:transition spd="slow">
    <p:pull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33341978"/>
      </p:ext>
    </p:extLst>
  </p:cSld>
  <p:clrMapOvr>
    <a:masterClrMapping/>
  </p:clrMapOvr>
  <p:transition spd="slow">
    <p:pull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285750" y="1143000"/>
            <a:ext cx="8643938" cy="2500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>
          <a:xfrm>
            <a:off x="285750" y="3857625"/>
            <a:ext cx="8643938" cy="257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410151"/>
      </p:ext>
    </p:extLst>
  </p:cSld>
  <p:clrMapOvr>
    <a:masterClrMapping/>
  </p:clrMapOvr>
  <p:transition spd="slow">
    <p:pull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395536" y="1341438"/>
            <a:ext cx="8424936" cy="1511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395288" y="3284538"/>
            <a:ext cx="8424862" cy="2881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3441877"/>
      </p:ext>
    </p:extLst>
  </p:cSld>
  <p:clrMapOvr>
    <a:masterClrMapping/>
  </p:clrMapOvr>
  <p:transition spd="slow">
    <p:pull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524328" y="6641976"/>
            <a:ext cx="1224136" cy="21602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8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32786" y="6641977"/>
            <a:ext cx="395934" cy="216023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fld id="{CFF10007-8FCC-43DC-B82D-4AE4189E914C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404664"/>
            <a:ext cx="6376640" cy="384498"/>
          </a:xfr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 dirty="0"/>
              <a:t>单击以编辑母片标题样式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0576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524328" y="6641976"/>
            <a:ext cx="1224136" cy="21602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8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32786" y="6641977"/>
            <a:ext cx="395934" cy="216023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fld id="{CFF10007-8FCC-43DC-B82D-4AE4189E914C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283592" y="380206"/>
            <a:ext cx="6376640" cy="384498"/>
          </a:xfr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 dirty="0"/>
              <a:t>单击以编辑母片标题样式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079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563" y="515938"/>
            <a:ext cx="86868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82563" y="1863725"/>
            <a:ext cx="8686800" cy="4491038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71FACB-E2A5-42D9-9B9C-B938D89F14D9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1554163" y="6548438"/>
            <a:ext cx="5943600" cy="1841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IBM Confidential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xfrm>
            <a:off x="549275" y="6548438"/>
            <a:ext cx="1004888" cy="1841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4788FB-9945-479C-A12D-64FD3B4D1025}" type="datetime1">
              <a:rPr lang="en-US" altLang="zh-CN">
                <a:solidFill>
                  <a:srgbClr val="000000"/>
                </a:solidFill>
              </a:rPr>
              <a:pPr>
                <a:defRPr/>
              </a:pPr>
              <a:t>7/19/2021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629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Line 4"/>
          <p:cNvSpPr>
            <a:spLocks noChangeShapeType="1"/>
          </p:cNvSpPr>
          <p:nvPr userDrawn="1"/>
        </p:nvSpPr>
        <p:spPr bwMode="auto">
          <a:xfrm flipV="1">
            <a:off x="274638" y="1220788"/>
            <a:ext cx="859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5955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PPBand0"/>
          <p:cNvSpPr>
            <a:spLocks noGrp="1" noChangeArrowheads="1"/>
          </p:cNvSpPr>
          <p:nvPr>
            <p:ph type="ctrTitle"/>
          </p:nvPr>
        </p:nvSpPr>
        <p:spPr>
          <a:xfrm>
            <a:off x="1042988" y="4643438"/>
            <a:ext cx="7172325" cy="5778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副标题 4"/>
          <p:cNvSpPr>
            <a:spLocks noGrp="1"/>
          </p:cNvSpPr>
          <p:nvPr>
            <p:ph type="subTitle" idx="4294967295"/>
          </p:nvPr>
        </p:nvSpPr>
        <p:spPr>
          <a:xfrm>
            <a:off x="1522413" y="5287963"/>
            <a:ext cx="6192837" cy="647700"/>
          </a:xfrm>
        </p:spPr>
        <p:txBody>
          <a:bodyPr/>
          <a:lstStyle/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6240982"/>
      </p:ext>
    </p:extLst>
  </p:cSld>
  <p:clrMapOvr>
    <a:masterClrMapping/>
  </p:clrMapOvr>
  <p:transition spd="slow">
    <p:pull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Verdana" pitchFamily="34" charset="0"/>
                <a:ea typeface="微软雅黑" pitchFamily="34" charset="-122"/>
              </a:defRPr>
            </a:lvl1pPr>
            <a:lvl2pPr>
              <a:defRPr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baseline="0">
                <a:latin typeface="Verdana" pitchFamily="34" charset="0"/>
                <a:ea typeface="微软雅黑" pitchFamily="34" charset="-122"/>
              </a:defRPr>
            </a:lvl4pPr>
            <a:lvl5pPr>
              <a:defRPr baseline="0">
                <a:latin typeface="Verdana" pitchFamily="34" charset="0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94418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980200"/>
      </p:ext>
    </p:extLst>
  </p:cSld>
  <p:clrMapOvr>
    <a:masterClrMapping/>
  </p:clrMapOvr>
  <p:transition spd="slow">
    <p:pull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54060980"/>
      </p:ext>
    </p:extLst>
  </p:cSld>
  <p:clrMapOvr>
    <a:masterClrMapping/>
  </p:clrMapOvr>
  <p:transition spd="slow">
    <p:pull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400" baseline="0">
                <a:latin typeface="Verdana" pitchFamily="34" charset="0"/>
                <a:ea typeface="微软雅黑" pitchFamily="34" charset="-122"/>
              </a:defRPr>
            </a:lvl1pPr>
            <a:lvl2pPr>
              <a:defRPr sz="2000" baseline="0">
                <a:latin typeface="Verdana" pitchFamily="34" charset="0"/>
                <a:ea typeface="微软雅黑" pitchFamily="34" charset="-122"/>
              </a:defRPr>
            </a:lvl2pPr>
            <a:lvl3pPr>
              <a:defRPr sz="1800" baseline="0">
                <a:latin typeface="Verdana" pitchFamily="34" charset="0"/>
                <a:ea typeface="微软雅黑" pitchFamily="34" charset="-122"/>
              </a:defRPr>
            </a:lvl3pPr>
            <a:lvl4pPr>
              <a:defRPr sz="1600" baseline="0">
                <a:latin typeface="Verdana" pitchFamily="34" charset="0"/>
                <a:ea typeface="微软雅黑" pitchFamily="34" charset="-122"/>
              </a:defRPr>
            </a:lvl4pPr>
            <a:lvl5pPr>
              <a:defRPr sz="1600" baseline="0">
                <a:latin typeface="Verdana" pitchFamily="34" charset="0"/>
                <a:ea typeface="微软雅黑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208199"/>
      </p:ext>
    </p:extLst>
  </p:cSld>
  <p:clrMapOvr>
    <a:masterClrMapping/>
  </p:clrMapOvr>
  <p:transition spd="slow">
    <p:pull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63038267"/>
      </p:ext>
    </p:extLst>
  </p:cSld>
  <p:clrMapOvr>
    <a:masterClrMapping/>
  </p:clrMapOvr>
  <p:transition spd="slow">
    <p:pull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930038"/>
      </p:ext>
    </p:extLst>
  </p:cSld>
  <p:clrMapOvr>
    <a:masterClrMapping/>
  </p:clrMapOvr>
  <p:transition spd="slow">
    <p:pull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366228"/>
      </p:ext>
    </p:extLst>
  </p:cSld>
  <p:clrMapOvr>
    <a:masterClrMapping/>
  </p:clrMapOvr>
  <p:transition spd="slow">
    <p:pull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60263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960263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12231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5349620"/>
      </p:ext>
    </p:extLst>
  </p:cSld>
  <p:clrMapOvr>
    <a:masterClrMapping/>
  </p:clrMapOvr>
  <p:transition spd="slow">
    <p:pull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522575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37927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792490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28079026"/>
      </p:ext>
    </p:extLst>
  </p:cSld>
  <p:clrMapOvr>
    <a:masterClrMapping/>
  </p:clrMapOvr>
  <p:transition spd="slow">
    <p:pull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66877484"/>
      </p:ext>
    </p:extLst>
  </p:cSld>
  <p:clrMapOvr>
    <a:masterClrMapping/>
  </p:clrMapOvr>
  <p:transition spd="slow">
    <p:pull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56966271"/>
      </p:ext>
    </p:extLst>
  </p:cSld>
  <p:clrMapOvr>
    <a:masterClrMapping/>
  </p:clrMapOvr>
  <p:transition spd="slow">
    <p:pull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1"/>
          </p:nvPr>
        </p:nvSpPr>
        <p:spPr>
          <a:xfrm>
            <a:off x="285750" y="1143000"/>
            <a:ext cx="8643938" cy="2500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2"/>
          </p:nvPr>
        </p:nvSpPr>
        <p:spPr>
          <a:xfrm>
            <a:off x="285750" y="3857625"/>
            <a:ext cx="8643938" cy="25717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95091985"/>
      </p:ext>
    </p:extLst>
  </p:cSld>
  <p:clrMapOvr>
    <a:masterClrMapping/>
  </p:clrMapOvr>
  <p:transition spd="slow">
    <p:pull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395536" y="1341438"/>
            <a:ext cx="8424936" cy="1511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395288" y="3284538"/>
            <a:ext cx="8424862" cy="2881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0129934"/>
      </p:ext>
    </p:extLst>
  </p:cSld>
  <p:clrMapOvr>
    <a:masterClrMapping/>
  </p:clrMapOvr>
  <p:transition spd="slow">
    <p:pull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524328" y="6641976"/>
            <a:ext cx="1224136" cy="21602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8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32786" y="6641977"/>
            <a:ext cx="395934" cy="216023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fld id="{CFF10007-8FCC-43DC-B82D-4AE4189E914C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395536" y="404664"/>
            <a:ext cx="6376640" cy="384498"/>
          </a:xfr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 dirty="0"/>
              <a:t>单击以编辑母片标题样式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645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524328" y="6641976"/>
            <a:ext cx="1224136" cy="21602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8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8732786" y="6641977"/>
            <a:ext cx="395934" cy="216023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pPr>
              <a:defRPr/>
            </a:pPr>
            <a:fld id="{CFF10007-8FCC-43DC-B82D-4AE4189E914C}" type="slidenum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11" name="標題 1"/>
          <p:cNvSpPr>
            <a:spLocks noGrp="1"/>
          </p:cNvSpPr>
          <p:nvPr>
            <p:ph type="title" hasCustomPrompt="1"/>
          </p:nvPr>
        </p:nvSpPr>
        <p:spPr>
          <a:xfrm>
            <a:off x="283592" y="380206"/>
            <a:ext cx="6376640" cy="384498"/>
          </a:xfr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TW" altLang="en-US" dirty="0"/>
              <a:t>单击以编辑母片标题样式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4909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563" y="515938"/>
            <a:ext cx="86868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82563" y="1863725"/>
            <a:ext cx="8686800" cy="4491038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71FACB-E2A5-42D9-9B9C-B938D89F14D9}" type="slidenum">
              <a:rPr lang="zh-CN" altLang="en-US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1554163" y="6548438"/>
            <a:ext cx="5943600" cy="1841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 altLang="zh-CN">
                <a:solidFill>
                  <a:srgbClr val="000000"/>
                </a:solidFill>
              </a:rPr>
              <a:t>IBM Confidential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2"/>
          </p:nvPr>
        </p:nvSpPr>
        <p:spPr>
          <a:xfrm>
            <a:off x="549275" y="6548438"/>
            <a:ext cx="1004888" cy="1841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4788FB-9945-479C-A12D-64FD3B4D1025}" type="datetime1">
              <a:rPr lang="en-US" altLang="zh-CN">
                <a:solidFill>
                  <a:srgbClr val="000000"/>
                </a:solidFill>
              </a:rPr>
              <a:pPr>
                <a:defRPr/>
              </a:pPr>
              <a:t>7/19/2021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81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2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Line 4"/>
          <p:cNvSpPr>
            <a:spLocks noChangeShapeType="1"/>
          </p:cNvSpPr>
          <p:nvPr userDrawn="1"/>
        </p:nvSpPr>
        <p:spPr bwMode="auto">
          <a:xfrm flipV="1">
            <a:off x="274638" y="1220788"/>
            <a:ext cx="859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03570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CN" altLang="zh-CN" sz="1800" smtClean="0">
              <a:solidFill>
                <a:prstClr val="black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500">
                <a:solidFill>
                  <a:srgbClr val="FF0000"/>
                </a:solidFill>
                <a:ea typeface="黑体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</p:spTree>
    <p:extLst>
      <p:ext uri="{BB962C8B-B14F-4D97-AF65-F5344CB8AC3E}">
        <p14:creationId xmlns:p14="http://schemas.microsoft.com/office/powerpoint/2010/main" val="3716119469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654" y="1125538"/>
            <a:ext cx="8058794" cy="503976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583CC-F08F-4650-83BD-0B144BA6F3F7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30775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8379C4-215D-41A6-986A-2DF7D77C7B62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214081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25204-0424-41CA-8101-954D76C9E140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19778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B02B9D-CB9D-41A8-A57D-5A4A8F3106E7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160378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E9192B-C830-4071-8C11-A985470D9A03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686274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55236-8A8A-4C0A-885F-CE436FD7E267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444564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B5F45-3CAA-4013-AAB6-C2D61A642C69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970852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CEB2F-4821-4F37-AA66-3E85E5CC4C4A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02598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2BA51-B37D-4C5C-8CE2-CD1B1AC0730A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160975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20A58-EF2B-4DA8-A045-258585B6DCF5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633754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333375"/>
            <a:ext cx="8424862" cy="61198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7BBC0-2B71-4B2F-A8AF-C1E863BC9CDC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422968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88" y="333375"/>
            <a:ext cx="6840537" cy="503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01638" y="1125538"/>
            <a:ext cx="8418512" cy="532765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2180B9-174A-49A2-90F5-D1796E77D6EF}" type="slidenum">
              <a:rPr lang="en-US" altLang="zh-CN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194964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251520" y="519895"/>
            <a:ext cx="6046566" cy="4800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0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en-US" altLang="zh-CN" dirty="0" smtClean="0">
                <a:solidFill>
                  <a:schemeClr val="bg1"/>
                </a:solidFill>
                <a:latin typeface="+mj-lt"/>
              </a:rPr>
              <a:t>主标题 微软雅黑 20pt 加粗</a:t>
            </a:r>
          </a:p>
        </p:txBody>
      </p:sp>
      <p:sp>
        <p:nvSpPr>
          <p:cNvPr id="12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49288" y="1076484"/>
            <a:ext cx="6048672" cy="4800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+mj-lt"/>
              </a:rPr>
              <a:t>副标题 微软雅黑 18pt</a:t>
            </a:r>
          </a:p>
        </p:txBody>
      </p:sp>
    </p:spTree>
    <p:extLst>
      <p:ext uri="{BB962C8B-B14F-4D97-AF65-F5344CB8AC3E}">
        <p14:creationId xmlns:p14="http://schemas.microsoft.com/office/powerpoint/2010/main" val="72083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anliyuan\Desktop\PPT模板-26.jp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92" y="16891"/>
            <a:ext cx="9154492" cy="686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064" y="548680"/>
            <a:ext cx="68405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39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spd="slow">
    <p:pull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n"/>
        <a:defRPr sz="2400">
          <a:solidFill>
            <a:schemeClr val="tx1"/>
          </a:solidFill>
          <a:latin typeface="Verdana" pitchFamily="34" charset="0"/>
          <a:ea typeface="微软雅黑" pitchFamily="34" charset="-122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p"/>
        <a:defRPr sz="2000">
          <a:solidFill>
            <a:schemeClr val="tx1"/>
          </a:solidFill>
          <a:latin typeface="Verdana" pitchFamily="34" charset="0"/>
          <a:ea typeface="微软雅黑" pitchFamily="34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Ø"/>
        <a:defRPr sz="2400">
          <a:solidFill>
            <a:schemeClr val="tx1"/>
          </a:solidFill>
          <a:latin typeface="Verdana" pitchFamily="34" charset="0"/>
          <a:ea typeface="微软雅黑" pitchFamily="34" charset="-122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Verdana" pitchFamily="34" charset="0"/>
          <a:ea typeface="微软雅黑" pitchFamily="34" charset="-122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Verdana" pitchFamily="34" charset="0"/>
          <a:ea typeface="微软雅黑" pitchFamily="34" charset="-122"/>
        </a:defRPr>
      </a:lvl5pPr>
      <a:lvl6pPr marL="25146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anliyuan\Desktop\PPT模板-26.jpg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92" y="16891"/>
            <a:ext cx="9154492" cy="686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8769" y="548680"/>
            <a:ext cx="68405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57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</p:sldLayoutIdLst>
  <p:transition spd="slow">
    <p:pull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n"/>
        <a:defRPr sz="2400">
          <a:solidFill>
            <a:schemeClr val="tx1"/>
          </a:solidFill>
          <a:latin typeface="Verdana" pitchFamily="34" charset="0"/>
          <a:ea typeface="微软雅黑" pitchFamily="34" charset="-122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p"/>
        <a:defRPr sz="2000">
          <a:solidFill>
            <a:schemeClr val="tx1"/>
          </a:solidFill>
          <a:latin typeface="Verdana" pitchFamily="34" charset="0"/>
          <a:ea typeface="微软雅黑" pitchFamily="34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Ø"/>
        <a:defRPr sz="2400">
          <a:solidFill>
            <a:schemeClr val="tx1"/>
          </a:solidFill>
          <a:latin typeface="Verdana" pitchFamily="34" charset="0"/>
          <a:ea typeface="微软雅黑" pitchFamily="34" charset="-122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Verdana" pitchFamily="34" charset="0"/>
          <a:ea typeface="微软雅黑" pitchFamily="34" charset="-122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Verdana" pitchFamily="34" charset="0"/>
          <a:ea typeface="微软雅黑" pitchFamily="34" charset="-122"/>
        </a:defRPr>
      </a:lvl5pPr>
      <a:lvl6pPr marL="25146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fanliyuan\Desktop\PPT模板-26.jpg"/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92" y="16891"/>
            <a:ext cx="9154492" cy="686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549498"/>
            <a:ext cx="684053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0" y="6477000"/>
            <a:ext cx="914128" cy="381000"/>
          </a:xfrm>
          <a:prstGeom prst="rect">
            <a:avLst/>
          </a:prstGeom>
        </p:spPr>
        <p:txBody>
          <a:bodyPr lIns="78355" tIns="39177" rIns="78355" bIns="39177"/>
          <a:lstStyle>
            <a:lvl1pPr algn="ctr">
              <a:defRPr sz="1200"/>
            </a:lvl1pPr>
          </a:lstStyle>
          <a:p>
            <a:fld id="{63D0A05F-5731-41E0-9017-6AE2E04D3978}" type="slidenum">
              <a:rPr lang="zh-CN" altLang="en-US" smtClean="0">
                <a:solidFill>
                  <a:srgbClr val="000000"/>
                </a:solidFill>
              </a:rPr>
              <a:pPr/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4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ransition spd="slow">
    <p:pull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n"/>
        <a:defRPr sz="2400">
          <a:solidFill>
            <a:schemeClr val="tx1"/>
          </a:solidFill>
          <a:latin typeface="Verdana" pitchFamily="34" charset="0"/>
          <a:ea typeface="微软雅黑" pitchFamily="34" charset="-122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p"/>
        <a:defRPr sz="2000">
          <a:solidFill>
            <a:schemeClr val="tx1"/>
          </a:solidFill>
          <a:latin typeface="Verdana" pitchFamily="34" charset="0"/>
          <a:ea typeface="微软雅黑" pitchFamily="34" charset="-122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Ø"/>
        <a:defRPr sz="2400">
          <a:solidFill>
            <a:schemeClr val="tx1"/>
          </a:solidFill>
          <a:latin typeface="Verdana" pitchFamily="34" charset="0"/>
          <a:ea typeface="微软雅黑" pitchFamily="34" charset="-122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Verdana" pitchFamily="34" charset="0"/>
          <a:ea typeface="微软雅黑" pitchFamily="34" charset="-122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Verdana" pitchFamily="34" charset="0"/>
          <a:ea typeface="微软雅黑" pitchFamily="34" charset="-122"/>
        </a:defRPr>
      </a:lvl5pPr>
      <a:lvl6pPr marL="25146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9" descr="内页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56588" y="6570663"/>
            <a:ext cx="801687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C872023-A18E-43F0-BF25-0EE559958246}" type="slidenum">
              <a:rPr lang="en-US" altLang="zh-CN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22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539552" y="355937"/>
            <a:ext cx="7344816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 userDrawn="1"/>
        </p:nvSpPr>
        <p:spPr>
          <a:xfrm>
            <a:off x="321172" y="297895"/>
            <a:ext cx="87064" cy="11608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Picture 3" descr="C:\Users\fanliyuan\Desktop\Hikvision Logo-R-03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385" y="281409"/>
            <a:ext cx="888479" cy="14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图片 1" descr="logo-0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82916" y="287021"/>
            <a:ext cx="836295" cy="144780"/>
          </a:xfrm>
          <a:prstGeom prst="rect">
            <a:avLst/>
          </a:prstGeom>
        </p:spPr>
      </p:pic>
      <p:pic>
        <p:nvPicPr>
          <p:cNvPr id="3" name="图片 2" descr="中英文slogan2-01"/>
          <p:cNvPicPr>
            <a:picLocks noChangeAspect="1"/>
          </p:cNvPicPr>
          <p:nvPr userDrawn="1"/>
        </p:nvPicPr>
        <p:blipFill>
          <a:blip r:embed="rId5">
            <a:lum bright="12000"/>
          </a:blip>
          <a:stretch>
            <a:fillRect/>
          </a:stretch>
        </p:blipFill>
        <p:spPr>
          <a:xfrm>
            <a:off x="321173" y="6455833"/>
            <a:ext cx="795655" cy="16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1" Type="http://schemas.openxmlformats.org/officeDocument/2006/relationships/slideLayout" Target="../slideLayouts/slideLayout66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-324544" y="1628800"/>
            <a:ext cx="7327850" cy="142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 algn="ctr" eaLnBrk="1" hangingPunct="1"/>
            <a:r>
              <a:rPr lang="en-US" altLang="zh-CN" sz="2400" dirty="0" smtClean="0">
                <a:solidFill>
                  <a:srgbClr val="C00000"/>
                </a:solidFill>
                <a:latin typeface="微软雅黑" pitchFamily="34" charset="-122"/>
              </a:rPr>
              <a:t>2021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itchFamily="34" charset="-122"/>
              </a:rPr>
              <a:t>年门禁与对讲业务部试用期转正答辩</a:t>
            </a:r>
            <a:endParaRPr lang="en-US" altLang="zh-CN" sz="24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472008" y="4005064"/>
            <a:ext cx="7772400" cy="4806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小组：武汉开发</a:t>
            </a:r>
            <a:r>
              <a:rPr lang="en-US" altLang="zh-CN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组</a:t>
            </a:r>
            <a:endParaRPr lang="en-US" altLang="zh-CN" sz="1600" dirty="0" smtClea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汇报人：</a:t>
            </a:r>
            <a:r>
              <a: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谢建宇</a:t>
            </a:r>
            <a:endParaRPr lang="en-US" altLang="zh-CN" sz="1600" dirty="0" smtClean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</a:endParaRPr>
          </a:p>
          <a:p>
            <a:pPr algn="l"/>
            <a:r>
              <a:rPr lang="zh-CN" altLang="en-US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汇报时间：</a:t>
            </a:r>
            <a:r>
              <a:rPr lang="en-US" altLang="zh-CN" sz="16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</a:rPr>
              <a:t>2021-07-20</a:t>
            </a:r>
            <a:endParaRPr lang="en-US" altLang="zh-CN" sz="1600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517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一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、个人情况简介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683568" y="3933056"/>
            <a:ext cx="7776864" cy="576064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87988" y="2915328"/>
            <a:ext cx="1368152" cy="1152128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加入海康</a:t>
            </a:r>
            <a:endParaRPr lang="en-US" altLang="zh-CN" sz="1400" dirty="0" smtClean="0"/>
          </a:p>
        </p:txBody>
      </p:sp>
      <p:sp>
        <p:nvSpPr>
          <p:cNvPr id="24" name="圆角矩形 23"/>
          <p:cNvSpPr/>
          <p:nvPr/>
        </p:nvSpPr>
        <p:spPr>
          <a:xfrm>
            <a:off x="2879807" y="2915328"/>
            <a:ext cx="1368152" cy="11521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新人入职培训</a:t>
            </a:r>
            <a:endParaRPr lang="zh-CN" altLang="en-US" sz="1400" dirty="0"/>
          </a:p>
        </p:txBody>
      </p:sp>
      <p:sp>
        <p:nvSpPr>
          <p:cNvPr id="25" name="圆角矩形 24"/>
          <p:cNvSpPr/>
          <p:nvPr/>
        </p:nvSpPr>
        <p:spPr>
          <a:xfrm>
            <a:off x="4671626" y="2915328"/>
            <a:ext cx="1368152" cy="1152128"/>
          </a:xfrm>
          <a:prstGeom prst="roundRect">
            <a:avLst/>
          </a:prstGeo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分配导师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开始</a:t>
            </a:r>
            <a:r>
              <a:rPr lang="zh-CN" altLang="en-US" sz="1400" dirty="0"/>
              <a:t>做第一个定制</a:t>
            </a:r>
            <a:r>
              <a:rPr lang="zh-CN" altLang="en-US" sz="1400" dirty="0" smtClean="0"/>
              <a:t>项目</a:t>
            </a:r>
            <a:endParaRPr lang="zh-CN" altLang="en-US" sz="1400" dirty="0"/>
          </a:p>
        </p:txBody>
      </p:sp>
      <p:sp>
        <p:nvSpPr>
          <p:cNvPr id="26" name="圆角矩形 25"/>
          <p:cNvSpPr/>
          <p:nvPr/>
        </p:nvSpPr>
        <p:spPr>
          <a:xfrm>
            <a:off x="6441252" y="2915328"/>
            <a:ext cx="1368152" cy="1152128"/>
          </a:xfrm>
          <a:prstGeom prst="roundRect">
            <a:avLst/>
          </a:prstGeom>
          <a:solidFill>
            <a:srgbClr val="00B0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基本具备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独立完成开发任务的能力</a:t>
            </a:r>
            <a:endParaRPr lang="en-US" altLang="zh-CN" sz="1400" dirty="0" smtClean="0"/>
          </a:p>
        </p:txBody>
      </p:sp>
    </p:spTree>
    <p:extLst>
      <p:ext uri="{BB962C8B-B14F-4D97-AF65-F5344CB8AC3E}">
        <p14:creationId xmlns:p14="http://schemas.microsoft.com/office/powerpoint/2010/main" val="26121692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55236-8A8A-4C0A-885F-CE436FD7E267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3528" y="404664"/>
            <a:ext cx="2646878" cy="461665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二、工作完成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情况</a:t>
            </a:r>
            <a:endParaRPr lang="en-US" altLang="zh-CN" sz="2400" b="1" dirty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aphicFrame>
        <p:nvGraphicFramePr>
          <p:cNvPr id="21" name="图表 20"/>
          <p:cNvGraphicFramePr/>
          <p:nvPr>
            <p:extLst>
              <p:ext uri="{D42A27DB-BD31-4B8C-83A1-F6EECF244321}">
                <p14:modId xmlns:p14="http://schemas.microsoft.com/office/powerpoint/2010/main" val="3379079565"/>
              </p:ext>
            </p:extLst>
          </p:nvPr>
        </p:nvGraphicFramePr>
        <p:xfrm>
          <a:off x="4084905" y="1844824"/>
          <a:ext cx="5095607" cy="4423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图表 19"/>
          <p:cNvGraphicFramePr/>
          <p:nvPr>
            <p:extLst>
              <p:ext uri="{D42A27DB-BD31-4B8C-83A1-F6EECF244321}">
                <p14:modId xmlns:p14="http://schemas.microsoft.com/office/powerpoint/2010/main" val="2924972034"/>
              </p:ext>
            </p:extLst>
          </p:nvPr>
        </p:nvGraphicFramePr>
        <p:xfrm>
          <a:off x="179513" y="1848717"/>
          <a:ext cx="4608512" cy="4419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矩形 21"/>
          <p:cNvSpPr/>
          <p:nvPr/>
        </p:nvSpPr>
        <p:spPr>
          <a:xfrm>
            <a:off x="2679885" y="1080414"/>
            <a:ext cx="38843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共完成</a:t>
            </a:r>
            <a:r>
              <a:rPr lang="en-US" altLang="zh-CN" sz="4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8</a:t>
            </a:r>
            <a:r>
              <a:rPr lang="zh-CN" altLang="en-US" sz="4400" b="1" cap="none" spc="0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个任务</a:t>
            </a:r>
            <a:endParaRPr lang="zh-CN" altLang="en-US" sz="4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30477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AsOne/>
      </p:bldGraphic>
      <p:bldGraphic spid="20" grpId="0">
        <p:bldAsOne/>
      </p:bldGraphic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hueOff val="0"/>
            <a:satOff val="0"/>
            <a:lumOff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55236-8A8A-4C0A-885F-CE436FD7E267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二、项目</a:t>
            </a:r>
            <a:r>
              <a:rPr lang="zh-CN" altLang="en-US" sz="2400" b="1" dirty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亮点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41369251"/>
              </p:ext>
            </p:extLst>
          </p:nvPr>
        </p:nvGraphicFramePr>
        <p:xfrm>
          <a:off x="1211263" y="2268329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421862" y="4653136"/>
            <a:ext cx="377026" cy="369332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CN" sz="1800" b="1" kern="0" dirty="0" smtClean="0">
                <a:solidFill>
                  <a:schemeClr val="bg1"/>
                </a:solidFill>
              </a:rPr>
              <a:t>2.</a:t>
            </a:r>
            <a:endParaRPr lang="zh-CN" altLang="en-US" sz="1800" b="1" kern="0" dirty="0" smtClean="0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01828" y="3501008"/>
            <a:ext cx="397866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CN" sz="2000" b="1" kern="0" dirty="0" smtClean="0">
                <a:solidFill>
                  <a:schemeClr val="bg1"/>
                </a:solidFill>
              </a:rPr>
              <a:t>1.</a:t>
            </a:r>
            <a:endParaRPr lang="zh-CN" altLang="en-US" sz="1800" b="1" kern="0" dirty="0" smtClean="0">
              <a:solidFill>
                <a:schemeClr val="bg1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40895"/>
              </p:ext>
            </p:extLst>
          </p:nvPr>
        </p:nvGraphicFramePr>
        <p:xfrm>
          <a:off x="251520" y="1052736"/>
          <a:ext cx="864096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850461237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3113976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项目编号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PJ01PC20210615207</a:t>
                      </a:r>
                      <a:endParaRPr lang="zh-CN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9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项目名称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 smtClean="0">
                          <a:effectLst/>
                        </a:rPr>
                        <a:t>广东业务中心碧桂园物业电话云对讲</a:t>
                      </a:r>
                      <a:r>
                        <a:rPr lang="en-US" altLang="zh-CN" sz="1400" kern="1200" dirty="0" smtClean="0">
                          <a:effectLst/>
                        </a:rPr>
                        <a:t>K1T671</a:t>
                      </a:r>
                      <a:r>
                        <a:rPr lang="zh-CN" altLang="en-US" sz="1400" kern="1200" dirty="0" smtClean="0">
                          <a:effectLst/>
                        </a:rPr>
                        <a:t>定制广告语音权限提醒等功能</a:t>
                      </a:r>
                      <a:endParaRPr lang="zh-CN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72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4329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1.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用户名模糊搜索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572463"/>
              </p:ext>
            </p:extLst>
          </p:nvPr>
        </p:nvGraphicFramePr>
        <p:xfrm>
          <a:off x="251520" y="1052736"/>
          <a:ext cx="864096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850461237"/>
                    </a:ext>
                  </a:extLst>
                </a:gridCol>
                <a:gridCol w="7416824">
                  <a:extLst>
                    <a:ext uri="{9D8B030D-6E8A-4147-A177-3AD203B41FA5}">
                      <a16:colId xmlns:a16="http://schemas.microsoft.com/office/drawing/2014/main" val="3113976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项目编号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</a:rPr>
                        <a:t>PJ01PC20210615207</a:t>
                      </a:r>
                      <a:endParaRPr lang="zh-CN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89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项目名称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 smtClean="0">
                          <a:effectLst/>
                        </a:rPr>
                        <a:t>广东业务中心碧桂园物业电话云对讲</a:t>
                      </a:r>
                      <a:r>
                        <a:rPr lang="en-US" altLang="zh-CN" sz="1400" kern="1200" dirty="0" smtClean="0">
                          <a:effectLst/>
                        </a:rPr>
                        <a:t>K1T671</a:t>
                      </a:r>
                      <a:r>
                        <a:rPr lang="zh-CN" altLang="en-US" sz="1400" kern="1200" dirty="0" smtClean="0">
                          <a:effectLst/>
                        </a:rPr>
                        <a:t>定制广告语音权限提醒等功能</a:t>
                      </a:r>
                      <a:endParaRPr lang="zh-CN" altLang="en-US" sz="14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672380"/>
                  </a:ext>
                </a:extLst>
              </a:tr>
            </a:tbl>
          </a:graphicData>
        </a:graphic>
      </p:graphicFrame>
      <p:sp>
        <p:nvSpPr>
          <p:cNvPr id="6" name="文本框 5" hidden="1"/>
          <p:cNvSpPr txBox="1"/>
          <p:nvPr/>
        </p:nvSpPr>
        <p:spPr>
          <a:xfrm>
            <a:off x="258919" y="3068165"/>
            <a:ext cx="5109091" cy="830997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kern="0" dirty="0">
                <a:solidFill>
                  <a:srgbClr val="FF0000"/>
                </a:solidFill>
              </a:rPr>
              <a:t>完成了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用户名的模糊搜索外，也对工号实现了</a:t>
            </a:r>
            <a:r>
              <a:rPr lang="zh-CN" altLang="en-US" sz="1600" b="1" kern="0" dirty="0">
                <a:solidFill>
                  <a:srgbClr val="FF0000"/>
                </a:solidFill>
              </a:rPr>
              <a:t>模糊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搜索</a:t>
            </a:r>
            <a:endParaRPr lang="en-US" altLang="zh-CN" sz="1600" b="1" kern="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0" dirty="0">
                <a:solidFill>
                  <a:srgbClr val="FF0000"/>
                </a:solidFill>
              </a:rPr>
              <a:t>考虑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到易用性，对</a:t>
            </a:r>
            <a:r>
              <a:rPr lang="zh-CN" altLang="en-US" sz="1600" b="1" kern="0" dirty="0">
                <a:solidFill>
                  <a:srgbClr val="FF0000"/>
                </a:solidFill>
              </a:rPr>
              <a:t>搜索结果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进行了排序</a:t>
            </a:r>
            <a:endParaRPr lang="en-US" altLang="zh-CN" sz="1600" b="1" kern="0" dirty="0" smtClean="0">
              <a:solidFill>
                <a:srgbClr val="FF0000"/>
              </a:solidFill>
            </a:endParaRPr>
          </a:p>
        </p:txBody>
      </p:sp>
      <p:sp>
        <p:nvSpPr>
          <p:cNvPr id="3" name="文本框 2" hidden="1"/>
          <p:cNvSpPr txBox="1"/>
          <p:nvPr/>
        </p:nvSpPr>
        <p:spPr>
          <a:xfrm>
            <a:off x="251520" y="4197025"/>
            <a:ext cx="7888698" cy="1246495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kern="0" dirty="0">
                <a:solidFill>
                  <a:prstClr val="black"/>
                </a:solidFill>
              </a:rPr>
              <a:t>卡号的模糊搜索比较</a:t>
            </a:r>
            <a:r>
              <a:rPr lang="zh-CN" altLang="en-US" sz="1600" kern="0" dirty="0" smtClean="0">
                <a:solidFill>
                  <a:prstClr val="black"/>
                </a:solidFill>
              </a:rPr>
              <a:t>麻烦：</a:t>
            </a:r>
            <a:endParaRPr lang="en-US" altLang="zh-CN" sz="1600" kern="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kern="0" dirty="0" smtClean="0">
                <a:solidFill>
                  <a:prstClr val="black"/>
                </a:solidFill>
              </a:rPr>
              <a:t>卡号是</a:t>
            </a:r>
            <a:r>
              <a:rPr lang="en-US" altLang="zh-CN" sz="1600" kern="0" dirty="0" smtClean="0">
                <a:solidFill>
                  <a:prstClr val="black"/>
                </a:solidFill>
              </a:rPr>
              <a:t>base64</a:t>
            </a:r>
            <a:r>
              <a:rPr lang="zh-CN" altLang="en-US" sz="1600" kern="0" dirty="0" smtClean="0">
                <a:solidFill>
                  <a:prstClr val="black"/>
                </a:solidFill>
              </a:rPr>
              <a:t>编码</a:t>
            </a:r>
            <a:r>
              <a:rPr lang="zh-CN" altLang="en-US" sz="1600" kern="0" dirty="0">
                <a:solidFill>
                  <a:prstClr val="black"/>
                </a:solidFill>
              </a:rPr>
              <a:t>后存储在数据库</a:t>
            </a:r>
            <a:r>
              <a:rPr lang="zh-CN" altLang="en-US" sz="1600" kern="0" dirty="0" smtClean="0">
                <a:solidFill>
                  <a:prstClr val="black"/>
                </a:solidFill>
              </a:rPr>
              <a:t>中的，虽然数据库提供有自带的</a:t>
            </a:r>
            <a:r>
              <a:rPr lang="en-US" altLang="zh-CN" sz="1600" kern="0" dirty="0" smtClean="0">
                <a:solidFill>
                  <a:prstClr val="black"/>
                </a:solidFill>
              </a:rPr>
              <a:t>base64</a:t>
            </a:r>
            <a:r>
              <a:rPr lang="zh-CN" altLang="en-US" sz="1600" kern="0" dirty="0" smtClean="0">
                <a:solidFill>
                  <a:prstClr val="black"/>
                </a:solidFill>
              </a:rPr>
              <a:t>解码函数，</a:t>
            </a:r>
            <a:endParaRPr lang="en-US" altLang="zh-CN" sz="1600" kern="0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kern="0" dirty="0" smtClean="0">
                <a:solidFill>
                  <a:prstClr val="black"/>
                </a:solidFill>
              </a:rPr>
              <a:t>但由于</a:t>
            </a:r>
            <a:r>
              <a:rPr lang="zh-CN" altLang="en-US" sz="1600" kern="0" dirty="0">
                <a:solidFill>
                  <a:prstClr val="black"/>
                </a:solidFill>
              </a:rPr>
              <a:t>基线</a:t>
            </a:r>
            <a:r>
              <a:rPr lang="zh-CN" altLang="en-US" sz="1600" kern="0" dirty="0" smtClean="0">
                <a:solidFill>
                  <a:prstClr val="black"/>
                </a:solidFill>
              </a:rPr>
              <a:t>用的是私有的</a:t>
            </a:r>
            <a:r>
              <a:rPr lang="en-US" altLang="zh-CN" sz="1600" kern="0" dirty="0" smtClean="0">
                <a:solidFill>
                  <a:prstClr val="black"/>
                </a:solidFill>
              </a:rPr>
              <a:t>base64</a:t>
            </a:r>
            <a:r>
              <a:rPr lang="zh-CN" altLang="en-US" sz="1600" kern="0" dirty="0">
                <a:solidFill>
                  <a:prstClr val="black"/>
                </a:solidFill>
              </a:rPr>
              <a:t>编码规则</a:t>
            </a:r>
            <a:r>
              <a:rPr lang="zh-CN" altLang="en-US" sz="1600" kern="0" dirty="0" smtClean="0">
                <a:solidFill>
                  <a:prstClr val="black"/>
                </a:solidFill>
              </a:rPr>
              <a:t>，编码结果不同，所以无法使用</a:t>
            </a:r>
            <a:endParaRPr lang="en-US" altLang="zh-CN" sz="1600" kern="0" dirty="0">
              <a:solidFill>
                <a:prstClr val="black"/>
              </a:solidFill>
            </a:endParaRPr>
          </a:p>
        </p:txBody>
      </p:sp>
      <p:sp>
        <p:nvSpPr>
          <p:cNvPr id="7" name="文本框 6" hidden="1"/>
          <p:cNvSpPr txBox="1"/>
          <p:nvPr/>
        </p:nvSpPr>
        <p:spPr>
          <a:xfrm>
            <a:off x="251520" y="2431748"/>
            <a:ext cx="5314275" cy="338554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1600" kern="0" dirty="0" smtClean="0">
                <a:solidFill>
                  <a:prstClr val="black"/>
                </a:solidFill>
              </a:rPr>
              <a:t>目前设备搜索人员信息的方式有三种：姓名、工号、卡号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51520" y="2492896"/>
            <a:ext cx="2016224" cy="3046988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kern="0" dirty="0" smtClean="0">
                <a:solidFill>
                  <a:srgbClr val="FF0000"/>
                </a:solidFill>
              </a:rPr>
              <a:t>解决办法：数据库支持添加自定义</a:t>
            </a:r>
            <a:r>
              <a:rPr lang="zh-CN" altLang="en-US" sz="1600" b="1" kern="0" dirty="0">
                <a:solidFill>
                  <a:srgbClr val="FF0000"/>
                </a:solidFill>
              </a:rPr>
              <a:t>函数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，添加一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个卡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号解码函数到数据库的自定义</a:t>
            </a:r>
            <a:r>
              <a:rPr lang="zh-CN" altLang="en-US" sz="1600" b="1" kern="0" dirty="0">
                <a:solidFill>
                  <a:srgbClr val="FF0000"/>
                </a:solidFill>
              </a:rPr>
              <a:t>函数中，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然后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在</a:t>
            </a:r>
            <a:r>
              <a:rPr lang="en-US" altLang="zh-CN" sz="1600" b="1" kern="0" dirty="0" err="1" smtClean="0">
                <a:solidFill>
                  <a:srgbClr val="FF0000"/>
                </a:solidFill>
              </a:rPr>
              <a:t>sql</a:t>
            </a:r>
            <a:r>
              <a:rPr lang="zh-CN" altLang="en-US" sz="1600" b="1" kern="0" dirty="0">
                <a:solidFill>
                  <a:srgbClr val="FF0000"/>
                </a:solidFill>
              </a:rPr>
              <a:t>语句中调用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，那么数据库就会自动调用解码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函数后</a:t>
            </a:r>
            <a:r>
              <a:rPr lang="zh-CN" altLang="en-US" sz="1600" b="1" kern="0" dirty="0" smtClean="0">
                <a:solidFill>
                  <a:srgbClr val="FF0000"/>
                </a:solidFill>
              </a:rPr>
              <a:t>再进行匹配</a:t>
            </a:r>
            <a:endParaRPr lang="zh-CN" altLang="en-US" sz="1600" b="1" kern="0" dirty="0">
              <a:solidFill>
                <a:srgbClr val="FF0000"/>
              </a:solidFill>
            </a:endParaRPr>
          </a:p>
        </p:txBody>
      </p:sp>
      <p:sp>
        <p:nvSpPr>
          <p:cNvPr id="12" name="文本框 11" hidden="1"/>
          <p:cNvSpPr txBox="1"/>
          <p:nvPr/>
        </p:nvSpPr>
        <p:spPr>
          <a:xfrm>
            <a:off x="1485965" y="3529384"/>
            <a:ext cx="1894274" cy="70788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4000" b="1" kern="0" dirty="0" smtClean="0">
                <a:solidFill>
                  <a:prstClr val="black"/>
                </a:solidFill>
              </a:rPr>
              <a:t>1.</a:t>
            </a:r>
            <a:r>
              <a:rPr lang="zh-CN" altLang="en-US" sz="4000" b="1" kern="0" dirty="0">
                <a:solidFill>
                  <a:prstClr val="black"/>
                </a:solidFill>
              </a:rPr>
              <a:t>质量</a:t>
            </a:r>
            <a:endParaRPr lang="en-US" altLang="zh-CN" sz="4000" b="1" kern="0" dirty="0" smtClean="0">
              <a:solidFill>
                <a:prstClr val="black"/>
              </a:solidFill>
            </a:endParaRPr>
          </a:p>
        </p:txBody>
      </p:sp>
      <p:sp>
        <p:nvSpPr>
          <p:cNvPr id="13" name="文本框 12" hidden="1"/>
          <p:cNvSpPr txBox="1"/>
          <p:nvPr/>
        </p:nvSpPr>
        <p:spPr>
          <a:xfrm>
            <a:off x="4997437" y="3529384"/>
            <a:ext cx="1894274" cy="70788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4000" b="1" kern="0" dirty="0" smtClean="0">
                <a:solidFill>
                  <a:prstClr val="black"/>
                </a:solidFill>
              </a:rPr>
              <a:t>2.</a:t>
            </a:r>
            <a:r>
              <a:rPr lang="zh-CN" altLang="en-US" sz="4000" b="1" kern="0" dirty="0">
                <a:solidFill>
                  <a:prstClr val="black"/>
                </a:solidFill>
              </a:rPr>
              <a:t>工期</a:t>
            </a:r>
            <a:endParaRPr lang="en-US" altLang="zh-CN" sz="4000" b="1" kern="0" dirty="0" smtClean="0">
              <a:solidFill>
                <a:prstClr val="black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946018" y="2420888"/>
            <a:ext cx="1584176" cy="129614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946018" y="5013176"/>
            <a:ext cx="4658430" cy="1368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6372200" y="5528367"/>
            <a:ext cx="2016224" cy="3377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数据库自定义函数接口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127567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3" grpId="1"/>
      <p:bldP spid="7" grpId="0"/>
      <p:bldP spid="7" grpId="1"/>
      <p:bldP spid="11" grpId="0"/>
      <p:bldP spid="11" grpId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55236-8A8A-4C0A-885F-CE436FD7E267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1.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用户名模糊搜索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552" y="1988840"/>
            <a:ext cx="1980029" cy="52322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800" b="1" kern="0" dirty="0" smtClean="0">
                <a:solidFill>
                  <a:prstClr val="black"/>
                </a:solidFill>
              </a:rPr>
              <a:t>几点思考：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39552" y="2780928"/>
            <a:ext cx="3960440" cy="369332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b="1" kern="0" dirty="0" smtClean="0">
                <a:solidFill>
                  <a:prstClr val="black"/>
                </a:solidFill>
              </a:rPr>
              <a:t>1.</a:t>
            </a:r>
            <a:r>
              <a:rPr lang="zh-CN" altLang="en-US" b="1" kern="0" dirty="0" smtClean="0">
                <a:solidFill>
                  <a:prstClr val="black"/>
                </a:solidFill>
              </a:rPr>
              <a:t>基线为什么要用私有</a:t>
            </a:r>
            <a:r>
              <a:rPr lang="en-US" altLang="zh-CN" b="1" kern="0" dirty="0" smtClean="0">
                <a:solidFill>
                  <a:prstClr val="black"/>
                </a:solidFill>
              </a:rPr>
              <a:t>base64</a:t>
            </a:r>
            <a:r>
              <a:rPr lang="zh-CN" altLang="en-US" b="1" kern="0" dirty="0" smtClean="0">
                <a:solidFill>
                  <a:prstClr val="black"/>
                </a:solidFill>
              </a:rPr>
              <a:t>编码？</a:t>
            </a:r>
            <a:endParaRPr lang="zh-CN" altLang="en-US" sz="1800" b="1" kern="0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9660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155236-8A8A-4C0A-885F-CE436FD7E267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2.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用户名隐私处理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68348" y="1628800"/>
            <a:ext cx="902811" cy="52322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800" b="1" kern="0" dirty="0" smtClean="0">
                <a:solidFill>
                  <a:prstClr val="black"/>
                </a:solidFill>
              </a:rPr>
              <a:t>张三</a:t>
            </a:r>
            <a:endParaRPr lang="zh-CN" altLang="en-US" sz="1800" b="1" kern="0" dirty="0" smtClean="0">
              <a:solidFill>
                <a:prstClr val="black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60636" y="1628800"/>
            <a:ext cx="683200" cy="52322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800" b="1" kern="0" dirty="0" smtClean="0">
                <a:solidFill>
                  <a:prstClr val="black"/>
                </a:solidFill>
              </a:rPr>
              <a:t>张*</a:t>
            </a:r>
            <a:endParaRPr lang="zh-CN" altLang="en-US" sz="1800" b="1" kern="0" dirty="0" smtClean="0">
              <a:solidFill>
                <a:prstClr val="black"/>
              </a:solidFill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4293975" y="1700808"/>
            <a:ext cx="648072" cy="37920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图示 13"/>
          <p:cNvGraphicFramePr/>
          <p:nvPr>
            <p:extLst>
              <p:ext uri="{D42A27DB-BD31-4B8C-83A1-F6EECF244321}">
                <p14:modId xmlns:p14="http://schemas.microsoft.com/office/powerpoint/2010/main" val="2961440968"/>
              </p:ext>
            </p:extLst>
          </p:nvPr>
        </p:nvGraphicFramePr>
        <p:xfrm>
          <a:off x="2643961" y="2420888"/>
          <a:ext cx="3948100" cy="1760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图示 14"/>
          <p:cNvGraphicFramePr/>
          <p:nvPr>
            <p:extLst>
              <p:ext uri="{D42A27DB-BD31-4B8C-83A1-F6EECF244321}">
                <p14:modId xmlns:p14="http://schemas.microsoft.com/office/powerpoint/2010/main" val="331720642"/>
              </p:ext>
            </p:extLst>
          </p:nvPr>
        </p:nvGraphicFramePr>
        <p:xfrm>
          <a:off x="2643961" y="4037765"/>
          <a:ext cx="3948100" cy="1760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6" name="右箭头 15"/>
          <p:cNvSpPr/>
          <p:nvPr/>
        </p:nvSpPr>
        <p:spPr>
          <a:xfrm>
            <a:off x="4788024" y="3592850"/>
            <a:ext cx="767548" cy="9361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图示 16"/>
          <p:cNvGraphicFramePr/>
          <p:nvPr>
            <p:extLst>
              <p:ext uri="{D42A27DB-BD31-4B8C-83A1-F6EECF244321}">
                <p14:modId xmlns:p14="http://schemas.microsoft.com/office/powerpoint/2010/main" val="2069278365"/>
              </p:ext>
            </p:extLst>
          </p:nvPr>
        </p:nvGraphicFramePr>
        <p:xfrm>
          <a:off x="5963966" y="3258479"/>
          <a:ext cx="2376264" cy="1604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8930413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 L -0.24114 -0.00231 " pathEditMode="relative" rAng="0" ptsTypes="AA">
                                      <p:cBhvr>
                                        <p:cTn id="3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66" y="-116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7037E-7 L -0.24114 0.00347 " pathEditMode="relative" rAng="0" ptsTypes="AA">
                                      <p:cBhvr>
                                        <p:cTn id="3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66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Graphic spid="14" grpId="0">
        <p:bldAsOne/>
      </p:bldGraphic>
      <p:bldGraphic spid="14" grpId="1">
        <p:bldAsOne/>
      </p:bldGraphic>
      <p:bldGraphic spid="15" grpId="0">
        <p:bldAsOne/>
      </p:bldGraphic>
      <p:bldGraphic spid="15" grpId="1">
        <p:bldAsOne/>
      </p:bldGraphic>
      <p:bldP spid="16" grpId="0" animBg="1"/>
      <p:bldGraphic spid="1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90513" y="1556792"/>
            <a:ext cx="8601967" cy="4392488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accent6">
                    <a:lumMod val="75000"/>
                  </a:schemeClr>
                </a:solidFill>
              </a:rPr>
              <a:t>          10000000</a:t>
            </a:r>
            <a:endParaRPr lang="en-US" altLang="zh-CN" b="1" kern="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accent6">
                    <a:lumMod val="75000"/>
                  </a:schemeClr>
                </a:solidFill>
              </a:rPr>
              <a:t>          11100000</a:t>
            </a:r>
            <a:endParaRPr lang="en-US" altLang="zh-CN" b="1" kern="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altLang="zh-CN" b="1" kern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</a:t>
            </a:r>
            <a:r>
              <a:rPr lang="en-US" altLang="zh-CN" b="1" kern="0" dirty="0" smtClean="0">
                <a:solidFill>
                  <a:schemeClr val="accent6">
                    <a:lumMod val="75000"/>
                  </a:schemeClr>
                </a:solidFill>
              </a:rPr>
              <a:t>11110000</a:t>
            </a:r>
            <a:endParaRPr lang="en-US" altLang="zh-CN" b="1" kern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accent6">
                    <a:lumMod val="75000"/>
                  </a:schemeClr>
                </a:solidFill>
              </a:rPr>
              <a:t>          11111000</a:t>
            </a:r>
            <a:endParaRPr lang="en-US" altLang="zh-CN" b="1" kern="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accent6">
                    <a:lumMod val="75000"/>
                  </a:schemeClr>
                </a:solidFill>
              </a:rPr>
              <a:t>          11111100</a:t>
            </a:r>
            <a:endParaRPr lang="en-US" altLang="zh-CN" b="1" kern="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accent6">
                    <a:lumMod val="75000"/>
                  </a:schemeClr>
                </a:solidFill>
              </a:rPr>
              <a:t>          11111110</a:t>
            </a:r>
            <a:endParaRPr lang="zh-CN" altLang="en-US" b="1" kern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0513" y="1563243"/>
            <a:ext cx="8601967" cy="4413516"/>
          </a:xfrm>
          <a:prstGeom prst="rect">
            <a:avLst/>
          </a:prstGeom>
          <a:solidFill>
            <a:schemeClr val="bg2">
              <a:lumMod val="75000"/>
              <a:alpha val="52000"/>
            </a:schemeClr>
          </a:solidFill>
          <a:ln w="2222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  <a:r>
              <a: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 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0xxxxxxx </a:t>
            </a: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 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110xxxxx 10xxxxxx </a:t>
            </a: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r>
              <a: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 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1110xxxx 10xxxxxx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  <a:r>
              <a: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 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11110xxx 10xxxxxx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  <a:r>
              <a: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 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111110xx 10xxxxxx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b="1" kern="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  <a:r>
              <a:rPr lang="zh-CN" altLang="en-US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字节 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1111110x 10xxxxxx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 kern="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10xxxxxx</a:t>
            </a:r>
            <a:r>
              <a:rPr lang="en-US" altLang="zh-CN" b="1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30000"/>
              </a:lnSpc>
            </a:pPr>
            <a:endParaRPr lang="en-US" altLang="zh-CN" b="1" kern="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55236-8A8A-4C0A-885F-CE436FD7E267}" type="slidenum">
              <a:rPr lang="en-US" altLang="zh-CN" smtClean="0"/>
              <a:pPr/>
              <a:t>8</a:t>
            </a:fld>
            <a:endParaRPr lang="en-US" altLang="zh-CN"/>
          </a:p>
        </p:txBody>
      </p:sp>
      <p:sp>
        <p:nvSpPr>
          <p:cNvPr id="3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2.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用户名隐私处理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10" name="同侧圆角矩形 9"/>
          <p:cNvSpPr/>
          <p:nvPr/>
        </p:nvSpPr>
        <p:spPr>
          <a:xfrm>
            <a:off x="290513" y="1080111"/>
            <a:ext cx="8601967" cy="504056"/>
          </a:xfrm>
          <a:prstGeom prst="round2Same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>
                <a:solidFill>
                  <a:schemeClr val="tx1"/>
                </a:solidFill>
              </a:rPr>
              <a:t>UTF8</a:t>
            </a:r>
            <a:r>
              <a:rPr lang="zh-CN" altLang="en-US" b="1" dirty="0" smtClean="0">
                <a:solidFill>
                  <a:schemeClr val="tx1"/>
                </a:solidFill>
              </a:rPr>
              <a:t>编码规则：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" name="右大括号 3"/>
          <p:cNvSpPr/>
          <p:nvPr/>
        </p:nvSpPr>
        <p:spPr>
          <a:xfrm>
            <a:off x="5436096" y="2996952"/>
            <a:ext cx="144016" cy="1152128"/>
          </a:xfrm>
          <a:prstGeom prst="righ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52120" y="3429000"/>
            <a:ext cx="1152128" cy="36004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中文编码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9050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2.</a:t>
            </a: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用户名隐私处理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5536" y="2616587"/>
            <a:ext cx="2698175" cy="52322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800" b="1" kern="0" dirty="0" smtClean="0">
                <a:solidFill>
                  <a:prstClr val="black"/>
                </a:solidFill>
              </a:rPr>
              <a:t>这样做的好处：</a:t>
            </a:r>
            <a:endParaRPr lang="en-US" altLang="zh-CN" sz="2800" b="1" kern="0" dirty="0" smtClean="0">
              <a:solidFill>
                <a:prstClr val="black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536" y="3619845"/>
            <a:ext cx="4501553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kern="0" dirty="0" smtClean="0">
                <a:solidFill>
                  <a:prstClr val="black"/>
                </a:solidFill>
              </a:rPr>
              <a:t>1.</a:t>
            </a:r>
            <a:r>
              <a:rPr lang="zh-CN" altLang="en-US" sz="2000" b="1" kern="0" dirty="0">
                <a:solidFill>
                  <a:prstClr val="black"/>
                </a:solidFill>
              </a:rPr>
              <a:t>可以</a:t>
            </a:r>
            <a:r>
              <a:rPr lang="zh-CN" altLang="en-US" sz="2000" b="1" kern="0" dirty="0" smtClean="0">
                <a:solidFill>
                  <a:prstClr val="black"/>
                </a:solidFill>
              </a:rPr>
              <a:t>把数据精准分割成字符进行处理</a:t>
            </a:r>
            <a:endParaRPr lang="en-US" altLang="zh-CN" sz="2000" b="1" kern="0" dirty="0">
              <a:solidFill>
                <a:prstClr val="black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95057" y="4509210"/>
            <a:ext cx="6296917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kern="0" dirty="0" smtClean="0">
                <a:solidFill>
                  <a:prstClr val="black"/>
                </a:solidFill>
              </a:rPr>
              <a:t>2.</a:t>
            </a:r>
            <a:r>
              <a:rPr lang="zh-CN" altLang="en-US" sz="2000" b="1" kern="0" dirty="0">
                <a:solidFill>
                  <a:prstClr val="black"/>
                </a:solidFill>
              </a:rPr>
              <a:t>可以</a:t>
            </a:r>
            <a:r>
              <a:rPr lang="zh-CN" altLang="en-US" sz="2000" b="1" kern="0" dirty="0" smtClean="0">
                <a:solidFill>
                  <a:prstClr val="black"/>
                </a:solidFill>
              </a:rPr>
              <a:t>把准备进行处理的汉字</a:t>
            </a:r>
            <a:r>
              <a:rPr lang="zh-CN" altLang="en-US" sz="2000" b="1" kern="0" dirty="0">
                <a:solidFill>
                  <a:prstClr val="black"/>
                </a:solidFill>
              </a:rPr>
              <a:t>数据和其他数据区别</a:t>
            </a:r>
            <a:r>
              <a:rPr lang="zh-CN" altLang="en-US" sz="2000" b="1" kern="0" dirty="0" smtClean="0">
                <a:solidFill>
                  <a:prstClr val="black"/>
                </a:solidFill>
              </a:rPr>
              <a:t>出来</a:t>
            </a:r>
            <a:endParaRPr lang="en-US" altLang="zh-CN" sz="2000" b="1" kern="0" dirty="0">
              <a:solidFill>
                <a:prstClr val="black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876256" y="3284404"/>
            <a:ext cx="1440160" cy="1080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198914" y="2616587"/>
            <a:ext cx="3057247" cy="52322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800" b="1" kern="0" dirty="0">
                <a:solidFill>
                  <a:srgbClr val="FF0000"/>
                </a:solidFill>
              </a:rPr>
              <a:t>体现</a:t>
            </a:r>
            <a:r>
              <a:rPr lang="zh-CN" altLang="en-US" sz="2800" b="1" kern="0" dirty="0" smtClean="0">
                <a:solidFill>
                  <a:srgbClr val="FF0000"/>
                </a:solidFill>
              </a:rPr>
              <a:t>在成果物上：</a:t>
            </a:r>
            <a:endParaRPr lang="zh-CN" altLang="en-US" sz="1800" b="1" kern="0" dirty="0" smtClean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98016" y="3624408"/>
            <a:ext cx="2962671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kern="0" dirty="0" smtClean="0">
                <a:solidFill>
                  <a:srgbClr val="FF0000"/>
                </a:solidFill>
              </a:rPr>
              <a:t>1.</a:t>
            </a:r>
            <a:r>
              <a:rPr lang="zh-CN" altLang="en-US" sz="2000" b="1" kern="0" dirty="0">
                <a:solidFill>
                  <a:srgbClr val="FF0000"/>
                </a:solidFill>
              </a:rPr>
              <a:t>避免了乱码情况的</a:t>
            </a:r>
            <a:r>
              <a:rPr lang="zh-CN" altLang="en-US" sz="2000" b="1" kern="0" dirty="0" smtClean="0">
                <a:solidFill>
                  <a:srgbClr val="FF0000"/>
                </a:solidFill>
              </a:rPr>
              <a:t>发生</a:t>
            </a:r>
            <a:endParaRPr lang="en-US" altLang="zh-CN" sz="2000" b="1" kern="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98016" y="4509120"/>
            <a:ext cx="6170279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kern="0" dirty="0">
                <a:solidFill>
                  <a:srgbClr val="FF0000"/>
                </a:solidFill>
              </a:rPr>
              <a:t>2</a:t>
            </a:r>
            <a:r>
              <a:rPr lang="en-US" altLang="zh-CN" sz="2000" b="1" kern="0" dirty="0" smtClean="0">
                <a:solidFill>
                  <a:srgbClr val="FF0000"/>
                </a:solidFill>
              </a:rPr>
              <a:t>.</a:t>
            </a:r>
            <a:r>
              <a:rPr lang="zh-CN" altLang="en-US" sz="2000" b="1" kern="0" dirty="0" smtClean="0">
                <a:solidFill>
                  <a:srgbClr val="FF0000"/>
                </a:solidFill>
              </a:rPr>
              <a:t>后续若有处理</a:t>
            </a:r>
            <a:r>
              <a:rPr lang="en-US" altLang="zh-CN" sz="2000" b="1" kern="0" dirty="0" smtClean="0">
                <a:solidFill>
                  <a:srgbClr val="FF0000"/>
                </a:solidFill>
              </a:rPr>
              <a:t>UTF8</a:t>
            </a:r>
            <a:r>
              <a:rPr lang="zh-CN" altLang="en-US" sz="2000" b="1" kern="0" dirty="0" smtClean="0">
                <a:solidFill>
                  <a:srgbClr val="FF0000"/>
                </a:solidFill>
              </a:rPr>
              <a:t>字符相关的定制，方便复用代码</a:t>
            </a:r>
            <a:endParaRPr lang="en-US" altLang="zh-CN" sz="2000" b="1" kern="0" dirty="0">
              <a:solidFill>
                <a:srgbClr val="FF0000"/>
              </a:solidFill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6876256" y="3284404"/>
            <a:ext cx="1440160" cy="10801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213098" y="2607586"/>
            <a:ext cx="3416320" cy="52322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sz="2800" b="1" kern="0" dirty="0">
                <a:solidFill>
                  <a:srgbClr val="FF0000"/>
                </a:solidFill>
              </a:rPr>
              <a:t>体现</a:t>
            </a:r>
            <a:r>
              <a:rPr lang="zh-CN" altLang="en-US" sz="2800" b="1" kern="0" dirty="0" smtClean="0">
                <a:solidFill>
                  <a:srgbClr val="FF0000"/>
                </a:solidFill>
              </a:rPr>
              <a:t>在客户反馈上：</a:t>
            </a:r>
            <a:endParaRPr lang="zh-CN" altLang="en-US" sz="1800" b="1" kern="0" dirty="0" smtClean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213098" y="3624408"/>
            <a:ext cx="4758034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kern="0" dirty="0" smtClean="0">
                <a:solidFill>
                  <a:srgbClr val="FF0000"/>
                </a:solidFill>
              </a:rPr>
              <a:t>1.</a:t>
            </a:r>
            <a:r>
              <a:rPr lang="zh-CN" altLang="en-US" sz="2000" b="1" kern="0" dirty="0">
                <a:solidFill>
                  <a:srgbClr val="FF0000"/>
                </a:solidFill>
              </a:rPr>
              <a:t>乙方公司配置人员信息时的自由度更大</a:t>
            </a:r>
            <a:endParaRPr lang="zh-CN" altLang="en-US" sz="2000" b="1" kern="0" dirty="0" smtClean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13098" y="4518120"/>
            <a:ext cx="6040436" cy="400110"/>
          </a:xfrm>
          <a:prstGeom prst="rect">
            <a:avLst/>
          </a:prstGeom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2000" b="1" kern="0" dirty="0" smtClean="0">
                <a:solidFill>
                  <a:srgbClr val="FF0000"/>
                </a:solidFill>
              </a:rPr>
              <a:t>2.</a:t>
            </a:r>
            <a:r>
              <a:rPr lang="zh-CN" altLang="en-US" sz="2000" b="1" kern="0" dirty="0">
                <a:solidFill>
                  <a:srgbClr val="FF0000"/>
                </a:solidFill>
              </a:rPr>
              <a:t>提高客户对海康产品的认可度和对公司实力的信任</a:t>
            </a:r>
            <a:endParaRPr lang="zh-CN" altLang="en-US" sz="2000" b="1" kern="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548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07407E-6 L -0.37587 -0.00371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02" y="-185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4.44444E-6 L -0.54531 0.0023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274" y="11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07407E-6 L -0.74583 0.0023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292" y="11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11111E-6 L -0.70868 -0.0053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34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5" presetClass="path" presetSubtype="0" accel="50000" decel="50000" fill="hold" grpId="1" nodeType="after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8.33333E-7 1.11111E-6 L -0.70868 -0.00533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34" y="-278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accel="50000" decel="5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11111E-6 4.07407E-6 L -0.5849 -0.00371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253" y="-185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11111E-6 L -0.57969 0.00301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993" y="139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-0.95816 0.0023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91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8" grpId="0"/>
      <p:bldP spid="8" grpId="1"/>
      <p:bldP spid="9" grpId="0"/>
      <p:bldP spid="9" grpId="1"/>
      <p:bldP spid="11" grpId="0" animBg="1"/>
      <p:bldP spid="11" grpId="1" animBg="1"/>
      <p:bldP spid="11" grpId="2" animBg="1"/>
      <p:bldP spid="12" grpId="0"/>
      <p:bldP spid="12" grpId="1"/>
      <p:bldP spid="13" grpId="0"/>
      <p:bldP spid="13" grpId="1"/>
      <p:bldP spid="14" grpId="0"/>
      <p:bldP spid="14" grpId="1"/>
      <p:bldP spid="15" grpId="0" animBg="1"/>
      <p:bldP spid="15" grpId="1" animBg="1"/>
      <p:bldP spid="16" grpId="0"/>
      <p:bldP spid="17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三、总体分析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536" y="4869160"/>
            <a:ext cx="8280920" cy="73866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0" dirty="0">
                <a:solidFill>
                  <a:prstClr val="black"/>
                </a:solidFill>
              </a:rPr>
              <a:t>刚</a:t>
            </a:r>
            <a:r>
              <a:rPr lang="zh-CN" altLang="en-US" sz="1400" kern="0" dirty="0" smtClean="0">
                <a:solidFill>
                  <a:prstClr val="black"/>
                </a:solidFill>
              </a:rPr>
              <a:t>接触嵌入式开发，经验相对不足，对设备的了解不足，要学习的东西还很多</a:t>
            </a:r>
            <a:endParaRPr lang="en-US" altLang="zh-CN" sz="1400" kern="0" dirty="0"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0" dirty="0" smtClean="0">
                <a:solidFill>
                  <a:prstClr val="black"/>
                </a:solidFill>
              </a:rPr>
              <a:t>目前做的项目以门禁为主，对于对讲的了解较少，以后的工作中要加强学习</a:t>
            </a:r>
            <a:endParaRPr lang="en-US" altLang="zh-CN" sz="1400" kern="0" dirty="0">
              <a:solidFill>
                <a:prstClr val="black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5536" y="1686010"/>
            <a:ext cx="8280920" cy="738664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400" kern="0" dirty="0">
                <a:solidFill>
                  <a:prstClr val="black"/>
                </a:solidFill>
              </a:rPr>
              <a:t>目前</a:t>
            </a:r>
            <a:r>
              <a:rPr lang="zh-CN" altLang="en-US" sz="1400" kern="0" dirty="0" smtClean="0">
                <a:solidFill>
                  <a:prstClr val="black"/>
                </a:solidFill>
              </a:rPr>
              <a:t>对于</a:t>
            </a:r>
            <a:r>
              <a:rPr lang="zh-CN" altLang="en-US" sz="1400" kern="0" dirty="0">
                <a:solidFill>
                  <a:prstClr val="black"/>
                </a:solidFill>
              </a:rPr>
              <a:t>开发</a:t>
            </a:r>
            <a:r>
              <a:rPr lang="zh-CN" altLang="en-US" sz="1400" kern="0" dirty="0" smtClean="0">
                <a:solidFill>
                  <a:prstClr val="black"/>
                </a:solidFill>
              </a:rPr>
              <a:t>流程和开发工具已经</a:t>
            </a:r>
            <a:r>
              <a:rPr lang="zh-CN" altLang="en-US" sz="1400" kern="0" dirty="0">
                <a:solidFill>
                  <a:prstClr val="black"/>
                </a:solidFill>
              </a:rPr>
              <a:t>基本掌握，可以</a:t>
            </a:r>
            <a:r>
              <a:rPr lang="zh-CN" altLang="en-US" sz="1400" kern="0" dirty="0" smtClean="0">
                <a:solidFill>
                  <a:prstClr val="black"/>
                </a:solidFill>
              </a:rPr>
              <a:t>独立自主完成</a:t>
            </a:r>
            <a:r>
              <a:rPr lang="zh-CN" altLang="en-US" sz="1400" kern="0" dirty="0">
                <a:solidFill>
                  <a:prstClr val="black"/>
                </a:solidFill>
              </a:rPr>
              <a:t>项目</a:t>
            </a:r>
            <a:r>
              <a:rPr lang="zh-CN" altLang="en-US" sz="1400" kern="0" dirty="0" smtClean="0">
                <a:solidFill>
                  <a:prstClr val="black"/>
                </a:solidFill>
              </a:rPr>
              <a:t>开发工作</a:t>
            </a:r>
            <a:endParaRPr lang="en-US" altLang="zh-CN" sz="1400" kern="0" dirty="0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0" dirty="0" smtClean="0">
                <a:solidFill>
                  <a:prstClr val="black"/>
                </a:solidFill>
              </a:rPr>
              <a:t>整理了一些流程相关、教程相关的文档，并将一些工作中遇到的比较有价值的问题也整理成了文档</a:t>
            </a:r>
            <a:endParaRPr lang="en-US" altLang="zh-CN" sz="1400" kern="0" dirty="0" smtClean="0">
              <a:solidFill>
                <a:prstClr val="black"/>
              </a:solidFill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271017" y="1253962"/>
            <a:ext cx="8529959" cy="432048"/>
          </a:xfrm>
          <a:prstGeom prst="rect">
            <a:avLst/>
          </a:prstGeom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800" b="1" kern="0" dirty="0" smtClean="0">
                <a:solidFill>
                  <a:srgbClr val="C00000"/>
                </a:solidFill>
              </a:rPr>
              <a:t>主要收获：</a:t>
            </a:r>
            <a:endParaRPr lang="zh-CN" altLang="en-US" sz="1800" b="1" kern="0" dirty="0">
              <a:solidFill>
                <a:prstClr val="black"/>
              </a:solidFill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271017" y="4415341"/>
            <a:ext cx="8529959" cy="432048"/>
          </a:xfrm>
          <a:prstGeom prst="rect">
            <a:avLst/>
          </a:prstGeom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1800" b="1" kern="0" dirty="0" smtClean="0">
                <a:solidFill>
                  <a:srgbClr val="C00000"/>
                </a:solidFill>
              </a:rPr>
              <a:t>不足：</a:t>
            </a:r>
            <a:endParaRPr lang="zh-CN" altLang="en-US" sz="1800" b="1" kern="0" dirty="0">
              <a:solidFill>
                <a:prstClr val="black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39552" y="2424674"/>
            <a:ext cx="8136904" cy="986341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825" y="2459982"/>
            <a:ext cx="653729" cy="8972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988" y="2459982"/>
            <a:ext cx="744677" cy="8972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188" y="2459981"/>
            <a:ext cx="693986" cy="8972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051" y="2455969"/>
            <a:ext cx="729439" cy="8972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1167" y="2465767"/>
            <a:ext cx="727711" cy="8972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7615" y="2460875"/>
            <a:ext cx="743056" cy="89727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854" y="2452915"/>
            <a:ext cx="613565" cy="8998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7592" y="2465767"/>
            <a:ext cx="589250" cy="88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04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0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 txBox="1">
            <a:spLocks/>
          </p:cNvSpPr>
          <p:nvPr/>
        </p:nvSpPr>
        <p:spPr bwMode="auto">
          <a:xfrm>
            <a:off x="290513" y="333375"/>
            <a:ext cx="7016750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1pPr>
            <a:lvl2pPr marL="742950" indent="-28575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p"/>
              <a:defRPr sz="22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2pPr>
            <a:lvl3pPr marL="11430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Ø"/>
              <a:defRPr sz="2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3pPr>
            <a:lvl4pPr marL="16002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4pPr>
            <a:lvl5pPr marL="2057400" indent="-228600" eaLnBrk="0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itchFamily="34" charset="0"/>
              <a:buChar char="-"/>
              <a:defRPr sz="1400">
                <a:solidFill>
                  <a:schemeClr val="tx1"/>
                </a:solidFill>
                <a:latin typeface="Arial" pitchFamily="34" charset="0"/>
                <a:ea typeface="微软雅黑" pitchFamily="34" charset="-122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微软雅黑" pitchFamily="34" charset="-122"/>
                <a:sym typeface="微软雅黑" pitchFamily="34" charset="-122"/>
              </a:rPr>
              <a:t>四、下一步计划</a:t>
            </a:r>
            <a:endParaRPr lang="en-US" altLang="zh-CN" sz="2400" b="1" dirty="0" smtClean="0">
              <a:solidFill>
                <a:srgbClr val="000000"/>
              </a:solidFill>
              <a:latin typeface="微软雅黑" pitchFamily="34" charset="-122"/>
              <a:sym typeface="微软雅黑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461467"/>
              </p:ext>
            </p:extLst>
          </p:nvPr>
        </p:nvGraphicFramePr>
        <p:xfrm>
          <a:off x="773572" y="2548375"/>
          <a:ext cx="3048000" cy="201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13916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0" dirty="0" smtClean="0"/>
                        <a:t>个人能力提升目标</a:t>
                      </a:r>
                      <a:endParaRPr lang="en-US" altLang="zh-CN" sz="2400" b="1" kern="0" dirty="0" smtClean="0">
                        <a:solidFill>
                          <a:prstClr val="black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624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0" dirty="0" smtClean="0">
                          <a:solidFill>
                            <a:prstClr val="black"/>
                          </a:solidFill>
                        </a:rPr>
                        <a:t>模块化</a:t>
                      </a:r>
                      <a:endParaRPr lang="en-US" altLang="zh-CN" sz="1600" b="0" kern="0" dirty="0" smtClean="0">
                        <a:solidFill>
                          <a:prstClr val="black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0" dirty="0" smtClean="0">
                          <a:solidFill>
                            <a:prstClr val="black"/>
                          </a:solidFill>
                        </a:rPr>
                        <a:t>基线化</a:t>
                      </a:r>
                      <a:endParaRPr lang="en-US" altLang="zh-CN" sz="1600" b="0" kern="0" dirty="0" smtClean="0">
                        <a:solidFill>
                          <a:prstClr val="black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kern="0" dirty="0" smtClean="0">
                          <a:solidFill>
                            <a:prstClr val="black"/>
                          </a:solidFill>
                        </a:rPr>
                        <a:t>精通某一领域，对组内同事进行赋能</a:t>
                      </a:r>
                      <a:endParaRPr lang="en-US" altLang="zh-CN" sz="1600" b="0" kern="0" dirty="0" smtClean="0">
                        <a:solidFill>
                          <a:prstClr val="black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318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010876"/>
              </p:ext>
            </p:extLst>
          </p:nvPr>
        </p:nvGraphicFramePr>
        <p:xfrm>
          <a:off x="5292080" y="2564904"/>
          <a:ext cx="3048000" cy="283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4838753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kern="0" dirty="0" smtClean="0"/>
                        <a:t>行动计划</a:t>
                      </a:r>
                      <a:endParaRPr lang="zh-CN" altLang="en-US" sz="2400" b="1" kern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70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0" dirty="0" smtClean="0"/>
                        <a:t>对手中的项目精益求精，力求做到最好</a:t>
                      </a:r>
                      <a:endParaRPr lang="en-US" altLang="zh-CN" sz="1600" kern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710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0" dirty="0" smtClean="0"/>
                        <a:t>保持求知欲，把感兴趣但暂时没时间学习的东西先记录下来，安排计划去学习</a:t>
                      </a:r>
                      <a:endParaRPr lang="en-US" altLang="zh-CN" sz="1600" kern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192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0" dirty="0" smtClean="0"/>
                        <a:t>充分利用周末时间充实自己</a:t>
                      </a:r>
                      <a:endParaRPr lang="en-US" altLang="zh-CN" sz="1600" kern="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260231"/>
                  </a:ext>
                </a:extLst>
              </a:tr>
            </a:tbl>
          </a:graphicData>
        </a:graphic>
      </p:graphicFrame>
      <p:sp>
        <p:nvSpPr>
          <p:cNvPr id="7" name="燕尾形 6"/>
          <p:cNvSpPr/>
          <p:nvPr/>
        </p:nvSpPr>
        <p:spPr>
          <a:xfrm>
            <a:off x="4067944" y="2989724"/>
            <a:ext cx="288032" cy="720080"/>
          </a:xfrm>
          <a:prstGeom prst="chevron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4412810" y="2994903"/>
            <a:ext cx="288032" cy="720080"/>
          </a:xfrm>
          <a:prstGeom prst="chevron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燕尾形 10"/>
          <p:cNvSpPr/>
          <p:nvPr/>
        </p:nvSpPr>
        <p:spPr>
          <a:xfrm>
            <a:off x="4757676" y="2989724"/>
            <a:ext cx="288032" cy="720080"/>
          </a:xfrm>
          <a:prstGeom prst="chevron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1683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C:\Users\fanliyuan\Desktop\PPT模板-2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180512" cy="688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179512" y="5848708"/>
            <a:ext cx="8964488" cy="10366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000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en-US" sz="1000" b="1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胶片及其附件含有海康威视公司的保密信息，仅限于公司内部传阅及培训学习使用。</a:t>
            </a:r>
            <a:endParaRPr lang="en-US" altLang="zh-CN" sz="1000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</a:t>
            </a:r>
            <a:r>
              <a:rPr lang="zh-CN" altLang="en-US" sz="1000" b="1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任何其他人以任何形式使用（包括但不限于全部或部分地泄露、复制或散发）本胶片中的信息。</a:t>
            </a:r>
            <a:endParaRPr lang="en-US" altLang="zh-CN" sz="1000" b="1" dirty="0">
              <a:solidFill>
                <a:prstClr val="white">
                  <a:lumMod val="50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b="1" dirty="0" smtClean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1000" b="1" dirty="0">
                <a:solidFill>
                  <a:prstClr val="white">
                    <a:lumMod val="50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您发现本胶片用于规定用途之外的情况，请您立即电话或邮件通知信息安全管理人员！</a:t>
            </a:r>
          </a:p>
        </p:txBody>
      </p:sp>
    </p:spTree>
    <p:extLst>
      <p:ext uri="{BB962C8B-B14F-4D97-AF65-F5344CB8AC3E}">
        <p14:creationId xmlns:p14="http://schemas.microsoft.com/office/powerpoint/2010/main" val="280128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海康威视PPT模板-2011（微软雅黑+Vedana） - 副本">
  <a:themeElements>
    <a:clrScheme name="0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海康威视PPT模板-2011（微软雅黑+Vedana） - 副本">
  <a:themeElements>
    <a:clrScheme name="0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海康威视PPT模板-2011（微软雅黑+Vedana） - 副本">
  <a:themeElements>
    <a:clrScheme name="04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ln>
          <a:solidFill>
            <a:srgbClr val="FF0000"/>
          </a:solidFill>
        </a:ln>
      </a:spPr>
      <a:bodyPr/>
      <a:lstStyle>
        <a:defPPr marL="0" indent="0">
          <a:buNone/>
          <a:defRPr sz="1800" b="1" kern="0" dirty="0" smtClean="0">
            <a:solidFill>
              <a:prstClr val="black"/>
            </a:solidFill>
          </a:defRPr>
        </a:defPPr>
      </a:lstStyle>
    </a:txDef>
  </a:objectDefaults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>
          <a:defRPr sz="11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9361</TotalTime>
  <Words>768</Words>
  <Application>Microsoft Office PowerPoint</Application>
  <PresentationFormat>全屏显示(4:3)</PresentationFormat>
  <Paragraphs>123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黑体</vt:lpstr>
      <vt:lpstr>宋体</vt:lpstr>
      <vt:lpstr>微软雅黑</vt:lpstr>
      <vt:lpstr>Arial</vt:lpstr>
      <vt:lpstr>Arial Black</vt:lpstr>
      <vt:lpstr>Calibri</vt:lpstr>
      <vt:lpstr>Verdana</vt:lpstr>
      <vt:lpstr>Wingdings</vt:lpstr>
      <vt:lpstr>Office 主题</vt:lpstr>
      <vt:lpstr>海康威视PPT模板-2011（微软雅黑+Vedana） - 副本</vt:lpstr>
      <vt:lpstr>1_海康威视PPT模板-2011（微软雅黑+Vedana） - 副本</vt:lpstr>
      <vt:lpstr>4_海康威视PPT模板-2011（微软雅黑+Vedana） - 副本</vt:lpstr>
      <vt:lpstr>04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蒋爱丽</dc:creator>
  <cp:lastModifiedBy>谢建宇</cp:lastModifiedBy>
  <cp:revision>235</cp:revision>
  <dcterms:created xsi:type="dcterms:W3CDTF">2018-04-03T10:02:23Z</dcterms:created>
  <dcterms:modified xsi:type="dcterms:W3CDTF">2021-07-19T15:45:59Z</dcterms:modified>
</cp:coreProperties>
</file>